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172F2B"/>
                </a:solidFill>
              </a:defRPr>
            </a:pPr>
            <a:r>
              <a:t>Weather-Driven Commerce Intelligence: Multi-Cadence EDA &amp; Econometrics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64736C"/>
                </a:solidFill>
              </a:defRPr>
            </a:pPr>
            <a:r>
              <a:t>Course Project Review 1 · Exploratory Data Analysis</a:t>
            </a:r>
          </a:p>
          <a:p>
            <a:r>
              <a:t>Public Data &amp; Econometric Research Edition</a:t>
            </a:r>
          </a:p>
          <a:p/>
          <a:p>
            <a:r>
              <a:t>Verified Production Datasets: NYC TLC · Citi Bike · UCI Retail · SEC EDGAR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72F2B"/>
                </a:solidFill>
              </a:defRPr>
            </a:pPr>
            <a:r>
              <a:t>Executive Summary: Confounding vs. Causality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Core Problem:</a:t>
            </a:r>
          </a:p>
          <a:p>
            <a:pPr lvl="1"/>
            <a:r>
              <a:t>Naive business analytics consistently confuses recurring calendar seasonality (e.g., weekend shopping surges, weekday commute peaks) with true weather-induced demand shocks.</a:t>
            </a:r>
          </a:p>
          <a:p>
            <a:pPr/>
            <a:r>
              <a:t>The Empirical Solution:</a:t>
            </a:r>
          </a:p>
          <a:p>
            <a:pPr lvl="1"/>
            <a:r>
              <a:t>An observatory platform integrating 4 multi-cadence production datasets with ERA5 weather reanalysis and NASA satellite feeds, isolating empirical elasticities using Two-Way Fixed Effects (TWFE).</a:t>
            </a:r>
          </a:p>
          <a:p>
            <a:pPr/>
            <a:r>
              <a:t>Deliverables:</a:t>
            </a:r>
          </a:p>
          <a:p>
            <a:pPr lvl="1"/>
            <a:r>
              <a:t>1) Executive Intelligence Platform, 2) 7-Chapter Academic EDA Presentation (/eda), and 3) Executable Notebook Walkthrough (/notebook).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72F2B"/>
                </a:solidFill>
              </a:defRPr>
            </a:pPr>
            <a:r>
              <a:t>Production Datasets: Multi-Cadence Telemetry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Micro &amp; Daily Operational Cadences:</a:t>
            </a:r>
          </a:p>
          <a:p>
            <a:pPr lvl="1"/>
            <a:r>
              <a:t>NYC Yellow Taxi (NYC TLC OpenData):</a:t>
            </a:r>
          </a:p>
          <a:p>
            <a:pPr lvl="2"/>
            <a:r>
              <a:t>• 744 hourly validated intervals; 2.99M raw trips.</a:t>
            </a:r>
          </a:p>
          <a:p>
            <a:pPr lvl="2"/>
            <a:r>
              <a:t>• Measures trip volume, gross fares, and tipping behavior.</a:t>
            </a:r>
          </a:p>
          <a:p>
            <a:pPr lvl="1"/>
            <a:r>
              <a:t>Citi Bike NYC Micromobility (Public S3):</a:t>
            </a:r>
          </a:p>
          <a:p>
            <a:pPr lvl="2"/>
            <a:r>
              <a:t>• 120 verified operational days; 2.41M raw rides.</a:t>
            </a:r>
          </a:p>
          <a:p>
            <a:pPr lvl="2"/>
            <a:r>
              <a:t>• Analyzes member vs. casual rider rain sensitivities.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Commercial &amp; Macro Financial Cadences:</a:t>
            </a:r>
          </a:p>
          <a:p>
            <a:pPr lvl="1"/>
            <a:r>
              <a:t>E-Commerce Retail Store (UCI Repository):</a:t>
            </a:r>
          </a:p>
          <a:p>
            <a:pPr lvl="2"/>
            <a:r>
              <a:t>• 305 trading days; 541K transactional invoice lines.</a:t>
            </a:r>
          </a:p>
          <a:p>
            <a:pPr lvl="2"/>
            <a:r>
              <a:t>• Isolates cancellations ('C' invoices) into returns ledger.</a:t>
            </a:r>
          </a:p>
          <a:p>
            <a:pPr lvl="1"/>
            <a:r>
              <a:t>Chipotle Mexican Grill (SEC EDGAR 10-Q):</a:t>
            </a:r>
          </a:p>
          <a:p>
            <a:pPr lvl="2"/>
            <a:r>
              <a:t>• 27 statutory quarterly financial filings.</a:t>
            </a:r>
          </a:p>
          <a:p>
            <a:pPr lvl="2"/>
            <a:r>
              <a:t>• Evaluates enterprise quarterly headwinds under GAAP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72F2B"/>
                </a:solidFill>
              </a:defRPr>
            </a:pPr>
            <a:r>
              <a:t>Meteorological Ground &amp; Satellite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Atmospheric Reanalysis &amp; Satellite Observations:</a:t>
            </a:r>
          </a:p>
          <a:p>
            <a:pPr lvl="1"/>
            <a:r>
              <a:t>Open-Meteo ERA5 Reanalysis: 70,045 hourly observations harmonized across 4 major metropolitan climate zones (New York, Chicago, Seattle, Phoenix).</a:t>
            </a:r>
          </a:p>
          <a:p>
            <a:pPr lvl="1"/>
            <a:r>
              <a:t>NASA POWER Satellite Feed: Surface thermal flux and solar insolation providing spatial consensus verification against municipal ground sensors.</a:t>
            </a:r>
          </a:p>
          <a:p>
            <a:pPr lvl="1"/>
            <a:r>
              <a:t>Engineered Meteorological Variables: Temperature anomaly vs. 30-day rolling baseline, precipitation accumulation (mm), wind speed (km/h), and snowfall depth (cm).</a:t>
            </a:r>
          </a:p>
          <a:p>
            <a:pPr lvl="1"/>
            <a:r>
              <a:t>Strict Time Synchronization: Full adherence to IANA timezones and daylight-saving transition safeguards preventing dropped observation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72F2B"/>
                </a:solidFill>
              </a:defRPr>
            </a:pPr>
            <a:r>
              <a:t>Chapter 03: Descriptive Statistics &amp; Anomaly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Distributional Moments &amp; Spread:</a:t>
            </a:r>
          </a:p>
          <a:p>
            <a:pPr lvl="1"/>
            <a:r>
              <a:t>Mean vs. Median Contrast: Reveals heavy right-skew in precipitation and ride volumes, proving why median-based statistics are essential.</a:t>
            </a:r>
          </a:p>
          <a:p>
            <a:pPr lvl="1"/>
            <a:r>
              <a:t>Sample Variance &amp; SD: Unbiased (n-1) degrees of freedom.</a:t>
            </a:r>
          </a:p>
          <a:p>
            <a:pPr lvl="1"/>
            <a:r>
              <a:t>Skewness &amp; Kurtosis: Standardized third and fourth moments documenting extreme storm tail weights.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Transparent Outlier Handling:</a:t>
            </a:r>
          </a:p>
          <a:p>
            <a:pPr lvl="1"/>
            <a:r>
              <a:t>Tukey Fences Audit: Fences defined at [Q1 − 1.5×IQR, Q3 + 1.5×IQR].</a:t>
            </a:r>
          </a:p>
          <a:p>
            <a:pPr lvl="1"/>
            <a:r>
              <a:t>No Deletion Rule: Severe weather downpours and holiday surges are retained as genuine empirical evidence rather than deleted.</a:t>
            </a:r>
          </a:p>
          <a:p>
            <a:pPr lvl="1"/>
            <a:r>
              <a:t>Raw-to-Clean Accounting: Full row tracing from 5.4M source micro-events to verified time-series Parquet snapshots.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72F2B"/>
                </a:solidFill>
              </a:defRPr>
            </a:pPr>
            <a:r>
              <a:t>Chapter 04 &amp; 07: Bivariate Correlation &amp; Regressions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Handling Tied Zero-Precipitation Days:</a:t>
            </a:r>
          </a:p>
          <a:p>
            <a:pPr lvl="1"/>
            <a:r>
              <a:t>Spearman Rank Correlation: R_i = rank(x_i), Q_i = rank(y_i); tied dry intervals receive fractional average ranks.</a:t>
            </a:r>
          </a:p>
          <a:p>
            <a:pPr lvl="1"/>
            <a:r>
              <a:t>Monotonic Sensitivity: Citibike displays strong negative rank correlation with rain (-0.48), while e-commerce retail displays positive substitution (+0.24).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Step-by-Step Pearson &amp; OLS Reproduction:</a:t>
            </a:r>
          </a:p>
          <a:p>
            <a:pPr lvl="1"/>
            <a:r>
              <a:t>Closed-Form Formulas: Explicitly computes Sxx, Syy, Sxy, sample covariance, slope b1 = Sxy/Sxx, and intercept b0 = y_bar − b1·x_bar.</a:t>
            </a:r>
          </a:p>
          <a:p>
            <a:pPr lvl="1"/>
            <a:r>
              <a:t>Cautionary Principle: Unadjusted R² reflects in-sample fit of a single line; it does not establish causal attribution without calendar controls.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72F2B"/>
                </a:solidFill>
              </a:defRPr>
            </a:pPr>
            <a:r>
              <a:t>Econometric TWFE Regressions &amp; Shock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Two-Way Fixed Effects (TWFE) Econometric Specification:</a:t>
            </a:r>
          </a:p>
          <a:p>
            <a:pPr lvl="1"/>
            <a:r>
              <a:t>log(1 + y_it) = α_i + γ_t + β₁ log(1 + rain_it) + β₂ temp_anom_it + β₃ wind_it + ε_it</a:t>
            </a:r>
          </a:p>
          <a:p>
            <a:pPr lvl="1"/>
            <a:r>
              <a:t>Newey-West HAC Robust Standard Errors: Controls for 7-lag serial autocorrelation and heteroskedasticity across continuous time horizons.</a:t>
            </a:r>
          </a:p>
          <a:p>
            <a:pPr lvl="1"/>
            <a:r>
              <a:t>Cross-Sector Ripple Effects (The Domino Chain): Demonstrates substitution cascades where rain suppresses bike checkouts (-35%), drives rideshare surges (+22%), and diverts foot-traffic into digital e-commerce delivery (+14%).</a:t>
            </a:r>
          </a:p>
          <a:p>
            <a:pPr lvl="1"/>
            <a:r>
              <a:t>Live Interactive Simulation: Real-time slider controls enabling enterprise stakeholders to stress-test arbitrary weather scenarios against live meteorological conditions.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72F2B"/>
                </a:solidFill>
              </a:defRPr>
            </a:pPr>
            <a:r>
              <a:t>System Architecture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Architecture:</a:t>
            </a:r>
          </a:p>
          <a:p>
            <a:pPr lvl="1"/>
            <a:r>
              <a:t>Backend: Python 3.13 + Flask 3.1 + Pandas + Statsmodels (Zero external runtime dependencies).</a:t>
            </a:r>
          </a:p>
          <a:p>
            <a:pPr lvl="1"/>
            <a:r>
              <a:t>Frontend: Research observatory styling (HTML5 + CSS3 + Plotly.js + SVG procedural graphics).</a:t>
            </a:r>
          </a:p>
          <a:p>
            <a:pPr lvl="1"/>
            <a:r>
              <a:t>Three Integrated Exploratory Environments:</a:t>
            </a:r>
          </a:p>
          <a:p>
            <a:pPr lvl="2"/>
            <a:r>
              <a:t>• Executive Platform (/): 5-tab operational monitoring and live scenario stress-testing.</a:t>
            </a:r>
          </a:p>
          <a:p>
            <a:pPr lvl="2"/>
            <a:r>
              <a:t>• Academic EDA Presentation (/eda): 7-chapter walkthrough with interactive filters and full math derivations.</a:t>
            </a:r>
          </a:p>
          <a:p>
            <a:pPr lvl="2"/>
            <a:r>
              <a:t>• Notebook Walkthrough (/notebook): 7 executable pipeline stages pairing code with verifiable intermediate outputs.</a:t>
            </a:r>
          </a:p>
          <a:p>
            <a:pPr lvl="1"/>
            <a:r>
              <a:t>100% Automated Testing: Comprehensive test suite validating data pipelines, connectors, econometric models, and web endpoints.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
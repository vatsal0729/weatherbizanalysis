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c2701b9fe943c7" /><Relationship Type="http://schemas.openxmlformats.org/officeDocument/2006/relationships/extended-properties" Target="/docProps/app.xml" Id="Rc0a18780fe704b01" /><Relationship Type="http://schemas.openxmlformats.org/officeDocument/2006/relationships/officeDocument" Target="/ppt/presentation.xml" Id="R529419ad20dd46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1e56984431498f"/>
  </p:sldMasterIdLst>
  <p:notesMasterIdLst>
    <p:notesMasterId xmlns:r="http://schemas.openxmlformats.org/officeDocument/2006/relationships" r:id="R2fd5317259804a72"/>
  </p:notesMasterIdLst>
  <p:sldIdLst>
    <p:sldId xmlns:r="http://schemas.openxmlformats.org/officeDocument/2006/relationships" id="256" r:id="Ra2499fb101284fe8"/>
    <p:sldId xmlns:r="http://schemas.openxmlformats.org/officeDocument/2006/relationships" id="257" r:id="Rda450eb890a74b71"/>
    <p:sldId xmlns:r="http://schemas.openxmlformats.org/officeDocument/2006/relationships" id="258" r:id="R2b85af75285341b1"/>
    <p:sldId xmlns:r="http://schemas.openxmlformats.org/officeDocument/2006/relationships" id="259" r:id="R129c6ae511aa4d12"/>
    <p:sldId xmlns:r="http://schemas.openxmlformats.org/officeDocument/2006/relationships" id="260" r:id="Rbb298b0f18af4bf2"/>
    <p:sldId xmlns:r="http://schemas.openxmlformats.org/officeDocument/2006/relationships" id="261" r:id="Rf3f66deb6ab24c93"/>
    <p:sldId xmlns:r="http://schemas.openxmlformats.org/officeDocument/2006/relationships" id="262" r:id="R6113fc20147e40db"/>
    <p:sldId xmlns:r="http://schemas.openxmlformats.org/officeDocument/2006/relationships" id="263" r:id="R92e9937e0b7f4f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4f57db9ff2402c" /><Relationship Type="http://schemas.openxmlformats.org/officeDocument/2006/relationships/slideMaster" Target="/ppt/slideMasters/slideMaster1.xml" Id="Rbe1e56984431498f" /><Relationship Type="http://schemas.openxmlformats.org/officeDocument/2006/relationships/notesMaster" Target="/ppt/notesMasters/notesMaster1.xml" Id="R2fd5317259804a72" /><Relationship Type="http://schemas.openxmlformats.org/officeDocument/2006/relationships/presProps" Target="/ppt/presProps.xml" Id="Re6946ff5ee9e4d5c" /><Relationship Type="http://schemas.openxmlformats.org/officeDocument/2006/relationships/tableStyles" Target="/ppt/tableStyles.xml" Id="R023202861adb4a22" /><Relationship Type="http://schemas.openxmlformats.org/officeDocument/2006/relationships/slide" Target="/ppt/slides/slide1.xml" Id="Ra2499fb101284fe8" /><Relationship Type="http://schemas.openxmlformats.org/officeDocument/2006/relationships/slide" Target="/ppt/slides/slide2.xml" Id="Rda450eb890a74b71" /><Relationship Type="http://schemas.openxmlformats.org/officeDocument/2006/relationships/slide" Target="/ppt/slides/slide3.xml" Id="R2b85af75285341b1" /><Relationship Type="http://schemas.openxmlformats.org/officeDocument/2006/relationships/slide" Target="/ppt/slides/slide4.xml" Id="R129c6ae511aa4d12" /><Relationship Type="http://schemas.openxmlformats.org/officeDocument/2006/relationships/slide" Target="/ppt/slides/slide5.xml" Id="Rbb298b0f18af4bf2" /><Relationship Type="http://schemas.openxmlformats.org/officeDocument/2006/relationships/slide" Target="/ppt/slides/slide6.xml" Id="Rf3f66deb6ab24c93" /><Relationship Type="http://schemas.openxmlformats.org/officeDocument/2006/relationships/slide" Target="/ppt/slides/slide7.xml" Id="R6113fc20147e40db" /><Relationship Type="http://schemas.openxmlformats.org/officeDocument/2006/relationships/slide" Target="/ppt/slides/slide8.xml" Id="R92e9937e0b7f4f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8c399a860b4b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e004b7aec5444c" /><Relationship Type="http://schemas.openxmlformats.org/officeDocument/2006/relationships/notesMaster" Target="/ppt/notesMasters/notesMaster1.xml" Id="R1fb1cc3663ad49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e0eb4fdb2c46d4" /><Relationship Type="http://schemas.openxmlformats.org/officeDocument/2006/relationships/notesMaster" Target="/ppt/notesMasters/notesMaster1.xml" Id="R4a14254b0a404d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c97a5a0e054036" /><Relationship Type="http://schemas.openxmlformats.org/officeDocument/2006/relationships/notesMaster" Target="/ppt/notesMasters/notesMaster1.xml" Id="R25912f2788de45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ed911532394e59" /><Relationship Type="http://schemas.openxmlformats.org/officeDocument/2006/relationships/notesMaster" Target="/ppt/notesMasters/notesMaster1.xml" Id="R1d9c1526a6bd49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53f34f5519434d" /><Relationship Type="http://schemas.openxmlformats.org/officeDocument/2006/relationships/notesMaster" Target="/ppt/notesMasters/notesMaster1.xml" Id="Rb92cbeffa10d45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8323e8d2fa4caa" /><Relationship Type="http://schemas.openxmlformats.org/officeDocument/2006/relationships/notesMaster" Target="/ppt/notesMasters/notesMaster1.xml" Id="R8a47bf9a0acc45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bfa1a99c594b2d" /><Relationship Type="http://schemas.openxmlformats.org/officeDocument/2006/relationships/notesMaster" Target="/ppt/notesMasters/notesMaster1.xml" Id="Rf3634d342c5149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e7e5a57f8f427d" /><Relationship Type="http://schemas.openxmlformats.org/officeDocument/2006/relationships/notesMaster" Target="/ppt/notesMasters/notesMaster1.xml" Id="Rd6bb55823d52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8c32602af41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258fedd4a44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2f0b0e09749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45fd6ae5741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781bcd4aa4a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2e5eb867b449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9A8350-012C-4C65-897C-757D28880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47D872-18A1-48C5-8EC6-D92A44DE60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307362-A00A-48A3-AA38-D8011B7BB9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7F53E7-9E0E-4391-BAAC-4470FF6090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945091-6234-4A25-ADF9-5EDEF89123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3F7120-2651-45A2-BC31-DD516979C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A4AD212-5880-4DE3-A4A2-A159222426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491D08-B99B-4DD1-84F5-932FD7E7B3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64CF30-EE22-4ECC-87AF-5F547A24C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372889-6595-4303-B767-D4F21B1F72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01202f82b14374" /><Relationship Type="http://schemas.openxmlformats.org/officeDocument/2006/relationships/slideLayout" Target="/ppt/slideLayouts/slideLayout1.xml" Id="Re04ff3e347ad4842" /><Relationship Type="http://schemas.openxmlformats.org/officeDocument/2006/relationships/slideLayout" Target="/ppt/slideLayouts/slideLayout2.xml" Id="R0cf2cb926fe04410" /><Relationship Type="http://schemas.openxmlformats.org/officeDocument/2006/relationships/slideLayout" Target="/ppt/slideLayouts/slideLayout3.xml" Id="R3a1fbd7685524b11" /><Relationship Type="http://schemas.openxmlformats.org/officeDocument/2006/relationships/slideLayout" Target="/ppt/slideLayouts/slideLayout4.xml" Id="R5f0afb35d20c48cd" /><Relationship Type="http://schemas.openxmlformats.org/officeDocument/2006/relationships/slideLayout" Target="/ppt/slideLayouts/slideLayout5.xml" Id="R29a120c7a32c48f6" /><Relationship Type="http://schemas.openxmlformats.org/officeDocument/2006/relationships/slideLayout" Target="/ppt/slideLayouts/slideLayout6.xml" Id="R98ae329bbfc245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4ff3e347ad4842"/>
    <p:sldLayoutId xmlns:r="http://schemas.openxmlformats.org/officeDocument/2006/relationships" id="2147483650" r:id="R0cf2cb926fe04410"/>
    <p:sldLayoutId xmlns:r="http://schemas.openxmlformats.org/officeDocument/2006/relationships" id="2147483651" r:id="R3a1fbd7685524b11"/>
    <p:sldLayoutId xmlns:r="http://schemas.openxmlformats.org/officeDocument/2006/relationships" id="2147483652" r:id="R5f0afb35d20c48cd"/>
    <p:sldLayoutId xmlns:r="http://schemas.openxmlformats.org/officeDocument/2006/relationships" id="2147483653" r:id="R29a120c7a32c48f6"/>
    <p:sldLayoutId xmlns:r="http://schemas.openxmlformats.org/officeDocument/2006/relationships" id="2147483654" r:id="R98ae329bbfc245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2d724b95d4d99" /><Relationship Type="http://schemas.openxmlformats.org/officeDocument/2006/relationships/notesSlide" Target="/ppt/notesSlides/notesSlide1.xml" Id="R2a58c1445de144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c59d5962745fb" /><Relationship Type="http://schemas.openxmlformats.org/officeDocument/2006/relationships/notesSlide" Target="/ppt/notesSlides/notesSlide2.xml" Id="R5b9be2c94a0748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385ccc3b3f4ff4" /><Relationship Type="http://schemas.openxmlformats.org/officeDocument/2006/relationships/chart" Target="/ppt/slides/charts/chart1.xml" Id="R2679da3afc6f4c73" /><Relationship Type="http://schemas.openxmlformats.org/officeDocument/2006/relationships/notesSlide" Target="/ppt/notesSlides/notesSlide3.xml" Id="Rcaec298e74f241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5c8ff14e24e23" /><Relationship Type="http://schemas.openxmlformats.org/officeDocument/2006/relationships/chart" Target="/ppt/slides/charts/chart2.xml" Id="R7c9835a3eb7b4270" /><Relationship Type="http://schemas.openxmlformats.org/officeDocument/2006/relationships/notesSlide" Target="/ppt/notesSlides/notesSlide4.xml" Id="Re8ad2e9a6c8f4a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c168d772b446e" /><Relationship Type="http://schemas.openxmlformats.org/officeDocument/2006/relationships/chart" Target="/ppt/slides/charts/chart3.xml" Id="R6b0faa2ab4ff4f47" /><Relationship Type="http://schemas.openxmlformats.org/officeDocument/2006/relationships/notesSlide" Target="/ppt/notesSlides/notesSlide5.xml" Id="Rce2c7389188045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0e8b0e70624859" /><Relationship Type="http://schemas.openxmlformats.org/officeDocument/2006/relationships/chart" Target="/ppt/slides/charts/chart4.xml" Id="R5d1b28847e814bb3" /><Relationship Type="http://schemas.openxmlformats.org/officeDocument/2006/relationships/notesSlide" Target="/ppt/notesSlides/notesSlide6.xml" Id="R10147bc325ec44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90a6e8cde4a12" /><Relationship Type="http://schemas.openxmlformats.org/officeDocument/2006/relationships/notesSlide" Target="/ppt/notesSlides/notesSlide7.xml" Id="R78b87945e59544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24f2f21cd402e" /><Relationship Type="http://schemas.openxmlformats.org/officeDocument/2006/relationships/notesSlide" Target="/ppt/notesSlides/notesSlide8.xml" Id="R1f9044cc3f00402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Rows</c:v>
          </c:tx>
          <c:spPr>
            <a:solidFill xmlns:a="http://schemas.openxmlformats.org/drawingml/2006/main">
              <a:srgbClr val="087F71"/>
            </a:solidFill>
          </c:spPr>
          <c:invertIfNegative val="0"/>
          <c:cat>
            <c:strLit>
              <c:ptCount val="4"/>
              <c:pt idx="0">
                <c:v>Taxi</c:v>
              </c:pt>
              <c:pt idx="1">
                <c:v>Citi Bike</c:v>
              </c:pt>
              <c:pt idx="2">
                <c:v>Online retail</c:v>
              </c:pt>
              <c:pt idx="3">
                <c:v>Chipotle</c:v>
              </c:pt>
            </c:strLit>
          </c:cat>
          <c:val>
            <c:numLit>
              <c:formatCode>General</c:formatCode>
              <c:ptCount val="4"/>
              <c:pt idx="0">
                <c:v>1488</c:v>
              </c:pt>
              <c:pt idx="1">
                <c:v>120</c:v>
              </c:pt>
              <c:pt idx="2">
                <c:v>305</c:v>
              </c:pt>
              <c:pt idx="3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1733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Observed time periods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8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36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AD8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8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36C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Raw rain</c:v>
          </c:tx>
          <c:spPr>
            <a:solidFill xmlns:a="http://schemas.openxmlformats.org/drawingml/2006/main">
              <a:srgbClr val="B27637"/>
            </a:solidFill>
          </c:spPr>
          <c:invertIfNegative val="0"/>
          <c:cat>
            <c:strLit>
              <c:ptCount val="3"/>
              <c:pt idx="0">
                <c:v>Taxi</c:v>
              </c:pt>
              <c:pt idx="1">
                <c:v>Citi Bike</c:v>
              </c:pt>
              <c:pt idx="2">
                <c:v>Online retail</c:v>
              </c:pt>
            </c:strLit>
          </c:cat>
          <c:val>
            <c:numLit>
              <c:formatCode>General</c:formatCode>
              <c:ptCount val="3"/>
              <c:pt idx="0">
                <c:v>7.01</c:v>
              </c:pt>
              <c:pt idx="1">
                <c:v>4.07</c:v>
              </c:pt>
              <c:pt idx="2">
                <c:v>3.89</c:v>
              </c:pt>
            </c:numLit>
          </c:val>
        </c:ser>
        <c:ser>
          <c:idx val="1"/>
          <c:order val="1"/>
          <c:tx>
            <c:v>log1p(rain)</c:v>
          </c:tx>
          <c:spPr>
            <a:solidFill xmlns:a="http://schemas.openxmlformats.org/drawingml/2006/main">
              <a:srgbClr val="087F71"/>
            </a:solidFill>
          </c:spPr>
          <c:invertIfNegative val="0"/>
          <c:cat>
            <c:strLit>
              <c:ptCount val="3"/>
              <c:pt idx="0">
                <c:v>Taxi</c:v>
              </c:pt>
              <c:pt idx="1">
                <c:v>Citi Bike</c:v>
              </c:pt>
              <c:pt idx="2">
                <c:v>Online retail</c:v>
              </c:pt>
            </c:strLit>
          </c:cat>
          <c:val>
            <c:numLit>
              <c:formatCode>General</c:formatCode>
              <c:ptCount val="3"/>
              <c:pt idx="0">
                <c:v>3.9</c:v>
              </c:pt>
              <c:pt idx="1">
                <c:v>1.18</c:v>
              </c:pt>
              <c:pt idx="2">
                <c:v>1.7</c:v>
              </c:pt>
            </c:numLit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33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8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36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8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Sample skewness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8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36C"/>
                </a:solidFill>
              </a:defRPr>
            </a:pPr>
          </a:p>
        </c:txPr>
        <c:crossAx val="48650112"/>
        <c:crossBetween val="between"/>
        <c:majorUnit val="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4736C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Pearson r</c:v>
          </c:tx>
          <c:spPr>
            <a:solidFill xmlns:a="http://schemas.openxmlformats.org/drawingml/2006/main">
              <a:srgbClr val="087F71"/>
            </a:solidFill>
          </c:spPr>
          <c:invertIfNegative val="0"/>
          <c:cat>
            <c:strLit>
              <c:ptCount val="3"/>
              <c:pt idx="0">
                <c:v>Taxi</c:v>
              </c:pt>
              <c:pt idx="1">
                <c:v>Citi Bike</c:v>
              </c:pt>
              <c:pt idx="2">
                <c:v>Online retail</c:v>
              </c:pt>
            </c:strLit>
          </c:cat>
          <c:val>
            <c:numLit>
              <c:formatCode>0.0</c:formatCode>
              <c:ptCount val="3"/>
              <c:pt idx="0">
                <c:v>0.052</c:v>
              </c:pt>
              <c:pt idx="1">
                <c:v>-0.415</c:v>
              </c:pt>
              <c:pt idx="2">
                <c:v>-0.024</c:v>
              </c:pt>
            </c:numLit>
          </c:val>
        </c:ser>
        <c:ser>
          <c:idx val="1"/>
          <c:order val="1"/>
          <c:tx>
            <c:v>Spearman rho</c:v>
          </c:tx>
          <c:spPr>
            <a:solidFill xmlns:a="http://schemas.openxmlformats.org/drawingml/2006/main">
              <a:srgbClr val="B27637"/>
            </a:solidFill>
          </c:spPr>
          <c:invertIfNegative val="0"/>
          <c:cat>
            <c:strLit>
              <c:ptCount val="3"/>
              <c:pt idx="0">
                <c:v>Taxi</c:v>
              </c:pt>
              <c:pt idx="1">
                <c:v>Citi Bike</c:v>
              </c:pt>
              <c:pt idx="2">
                <c:v>Online retail</c:v>
              </c:pt>
            </c:strLit>
          </c:cat>
          <c:val>
            <c:numLit>
              <c:formatCode>0.0</c:formatCode>
              <c:ptCount val="3"/>
              <c:pt idx="0">
                <c:v>0.104</c:v>
              </c:pt>
              <c:pt idx="1">
                <c:v>-0.346</c:v>
              </c:pt>
              <c:pt idx="2">
                <c:v>0.016</c:v>
              </c:pt>
            </c:numLit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33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8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36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-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8D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Correlation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CAD8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36C"/>
                </a:solidFill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4736C"/>
              </a:solidFill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Controlled model</c:v>
          </c:tx>
          <c:spPr>
            <a:solidFill xmlns:a="http://schemas.openxmlformats.org/drawingml/2006/main">
              <a:srgbClr val="087F71"/>
            </a:solidFill>
          </c:spPr>
          <c:invertIfNegative val="0"/>
          <c:cat>
            <c:strLit>
              <c:ptCount val="3"/>
              <c:pt idx="0">
                <c:v>Taxi</c:v>
              </c:pt>
              <c:pt idx="1">
                <c:v>Citi Bike</c:v>
              </c:pt>
              <c:pt idx="2">
                <c:v>Online retail</c:v>
              </c:pt>
            </c:strLit>
          </c:cat>
          <c:val>
            <c:numLit>
              <c:formatCode>General</c:formatCode>
              <c:ptCount val="3"/>
              <c:pt idx="0">
                <c:v>1385.2</c:v>
              </c:pt>
              <c:pt idx="1">
                <c:v>346.2</c:v>
              </c:pt>
              <c:pt idx="2">
                <c:v>60</c:v>
              </c:pt>
            </c:numLit>
          </c:val>
        </c:ser>
        <c:ser>
          <c:idx val="1"/>
          <c:order val="1"/>
          <c:tx>
            <c:v>Median baseline</c:v>
          </c:tx>
          <c:spPr>
            <a:solidFill xmlns:a="http://schemas.openxmlformats.org/drawingml/2006/main">
              <a:srgbClr val="B27637"/>
            </a:solidFill>
          </c:spPr>
          <c:invertIfNegative val="0"/>
          <c:cat>
            <c:strLit>
              <c:ptCount val="3"/>
              <c:pt idx="0">
                <c:v>Taxi</c:v>
              </c:pt>
              <c:pt idx="1">
                <c:v>Citi Bike</c:v>
              </c:pt>
              <c:pt idx="2">
                <c:v>Online retail</c:v>
              </c:pt>
            </c:strLit>
          </c:cat>
          <c:val>
            <c:numLit>
              <c:formatCode>General</c:formatCode>
              <c:ptCount val="3"/>
              <c:pt idx="0">
                <c:v>1819.5</c:v>
              </c:pt>
              <c:pt idx="1">
                <c:v>994.7</c:v>
              </c:pt>
              <c:pt idx="2">
                <c:v>38.2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7332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8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36C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CAD8D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AD8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36C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4736C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565C8-97FD-4F53-9FE2-B2104AFB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7FD4BF"/>
                </a:solidFill>
              </a:defRPr>
            </a:defPPr>
            <a:lvl1pPr algn="l">
              <a:defRPr sz="1050" b="1">
                <a:solidFill>
                  <a:srgbClr val="7FD4BF"/>
                </a:solidFill>
              </a:defRPr>
            </a:lvl1pPr>
            <a:lvl2pPr algn="l">
              <a:defRPr sz="1050" b="1">
                <a:solidFill>
                  <a:srgbClr val="7FD4BF"/>
                </a:solidFill>
              </a:defRPr>
            </a:lvl2pPr>
            <a:lvl3pPr algn="l">
              <a:defRPr sz="1050" b="1">
                <a:solidFill>
                  <a:srgbClr val="7FD4BF"/>
                </a:solidFill>
              </a:defRPr>
            </a:lvl3pPr>
            <a:lvl4pPr algn="l">
              <a:defRPr sz="1050" b="1">
                <a:solidFill>
                  <a:srgbClr val="7FD4BF"/>
                </a:solidFill>
              </a:defRPr>
            </a:lvl4pPr>
            <a:lvl5pPr algn="l">
              <a:defRPr sz="1050" b="1">
                <a:solidFill>
                  <a:srgbClr val="7FD4BF"/>
                </a:solidFill>
              </a:defRPr>
            </a:lvl5pPr>
            <a:lvl6pPr algn="l">
              <a:defRPr sz="1050" b="1">
                <a:solidFill>
                  <a:srgbClr val="7FD4BF"/>
                </a:solidFill>
              </a:defRPr>
            </a:lvl6pPr>
            <a:lvl7pPr algn="l">
              <a:defRPr sz="1050" b="1">
                <a:solidFill>
                  <a:srgbClr val="7FD4BF"/>
                </a:solidFill>
              </a:defRPr>
            </a:lvl7pPr>
            <a:lvl8pPr algn="l">
              <a:defRPr sz="1050" b="1">
                <a:solidFill>
                  <a:srgbClr val="7FD4BF"/>
                </a:solidFill>
              </a:defRPr>
            </a:lvl8pPr>
            <a:lvl9pPr algn="l">
              <a:defRPr sz="1050" b="1">
                <a:solidFill>
                  <a:srgbClr val="7FD4B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7FD4BF"/>
                </a:solidFill>
              </a:defRPr>
            </a:pPr>
            <a:r>
              <a:rPr sz="1050" b="1">
                <a:solidFill>
                  <a:srgbClr val="7FD4BF"/>
                </a:solidFill>
              </a:rPr>
              <a:t>FINAL PROJECT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C14A8-FB56-4075-8DAA-AE16BD42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  <a:lvl1pPr algn="l">
              <a:defRPr sz="3600" b="1">
                <a:solidFill>
                  <a:srgbClr val="FFFFFF"/>
                </a:solidFill>
              </a:defRPr>
            </a:lvl1pPr>
            <a:lvl2pPr algn="l">
              <a:defRPr sz="3600" b="1">
                <a:solidFill>
                  <a:srgbClr val="FFFFFF"/>
                </a:solidFill>
              </a:defRPr>
            </a:lvl2pPr>
            <a:lvl3pPr algn="l">
              <a:defRPr sz="3600" b="1">
                <a:solidFill>
                  <a:srgbClr val="FFFFFF"/>
                </a:solidFill>
              </a:defRPr>
            </a:lvl3pPr>
            <a:lvl4pPr algn="l">
              <a:defRPr sz="3600" b="1">
                <a:solidFill>
                  <a:srgbClr val="FFFFFF"/>
                </a:solidFill>
              </a:defRPr>
            </a:lvl4pPr>
            <a:lvl5pPr algn="l">
              <a:defRPr sz="3600" b="1">
                <a:solidFill>
                  <a:srgbClr val="FFFFFF"/>
                </a:solidFill>
              </a:defRPr>
            </a:lvl5pPr>
            <a:lvl6pPr algn="l">
              <a:defRPr sz="3600" b="1">
                <a:solidFill>
                  <a:srgbClr val="FFFFFF"/>
                </a:solidFill>
              </a:defRPr>
            </a:lvl6pPr>
            <a:lvl7pPr algn="l">
              <a:defRPr sz="3600" b="1">
                <a:solidFill>
                  <a:srgbClr val="FFFFFF"/>
                </a:solidFill>
              </a:defRPr>
            </a:lvl7pPr>
            <a:lvl8pPr algn="l">
              <a:defRPr sz="3600" b="1">
                <a:solidFill>
                  <a:srgbClr val="FFFFFF"/>
                </a:solidFill>
              </a:defRPr>
            </a:lvl8pPr>
            <a:lvl9pPr algn="l"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Weather and commerce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under four data designs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67F02-1755-4C3A-8B50-936458C5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>
                <a:solidFill>
                  <a:srgbClr val="D8E6E0"/>
                </a:solidFill>
              </a:defRPr>
            </a:defPPr>
            <a:lvl1pPr algn="l">
              <a:defRPr sz="1800" b="0">
                <a:solidFill>
                  <a:srgbClr val="D8E6E0"/>
                </a:solidFill>
              </a:defRPr>
            </a:lvl1pPr>
            <a:lvl2pPr algn="l">
              <a:defRPr sz="1800" b="0">
                <a:solidFill>
                  <a:srgbClr val="D8E6E0"/>
                </a:solidFill>
              </a:defRPr>
            </a:lvl2pPr>
            <a:lvl3pPr algn="l">
              <a:defRPr sz="1800" b="0">
                <a:solidFill>
                  <a:srgbClr val="D8E6E0"/>
                </a:solidFill>
              </a:defRPr>
            </a:lvl3pPr>
            <a:lvl4pPr algn="l">
              <a:defRPr sz="1800" b="0">
                <a:solidFill>
                  <a:srgbClr val="D8E6E0"/>
                </a:solidFill>
              </a:defRPr>
            </a:lvl4pPr>
            <a:lvl5pPr algn="l">
              <a:defRPr sz="1800" b="0">
                <a:solidFill>
                  <a:srgbClr val="D8E6E0"/>
                </a:solidFill>
              </a:defRPr>
            </a:lvl5pPr>
            <a:lvl6pPr algn="l">
              <a:defRPr sz="1800" b="0">
                <a:solidFill>
                  <a:srgbClr val="D8E6E0"/>
                </a:solidFill>
              </a:defRPr>
            </a:lvl6pPr>
            <a:lvl7pPr algn="l">
              <a:defRPr sz="1800" b="0">
                <a:solidFill>
                  <a:srgbClr val="D8E6E0"/>
                </a:solidFill>
              </a:defRPr>
            </a:lvl7pPr>
            <a:lvl8pPr algn="l">
              <a:defRPr sz="1800" b="0">
                <a:solidFill>
                  <a:srgbClr val="D8E6E0"/>
                </a:solidFill>
              </a:defRPr>
            </a:lvl8pPr>
            <a:lvl9pPr algn="l">
              <a:defRPr sz="1800" b="0">
                <a:solidFill>
                  <a:srgbClr val="D8E6E0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8E6E0"/>
                </a:solidFill>
              </a:defRPr>
            </a:pPr>
            <a:r>
              <a:rPr sz="1800" b="0">
                <a:solidFill>
                  <a:srgbClr val="D8E6E0"/>
                </a:solidFill>
              </a:rPr>
              <a:t>Evidence-first exploratory data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DB375-916F-4769-A010-5F9B273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C53"/>
          </a:solidFill>
          <a:ln xmlns:a="http://schemas.openxmlformats.org/drawingml/2006/main" w="0">
            <a:solidFill>
              <a:srgbClr val="3B5C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BF335-6513-41F3-80B7-60CA9C4E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481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D8E6E0"/>
                </a:solidFill>
              </a:defRPr>
            </a:defPPr>
            <a:lvl1pPr algn="l">
              <a:defRPr sz="1425" b="0">
                <a:solidFill>
                  <a:srgbClr val="D8E6E0"/>
                </a:solidFill>
              </a:defRPr>
            </a:lvl1pPr>
            <a:lvl2pPr algn="l">
              <a:defRPr sz="1425" b="0">
                <a:solidFill>
                  <a:srgbClr val="D8E6E0"/>
                </a:solidFill>
              </a:defRPr>
            </a:lvl2pPr>
            <a:lvl3pPr algn="l">
              <a:defRPr sz="1425" b="0">
                <a:solidFill>
                  <a:srgbClr val="D8E6E0"/>
                </a:solidFill>
              </a:defRPr>
            </a:lvl3pPr>
            <a:lvl4pPr algn="l">
              <a:defRPr sz="1425" b="0">
                <a:solidFill>
                  <a:srgbClr val="D8E6E0"/>
                </a:solidFill>
              </a:defRPr>
            </a:lvl4pPr>
            <a:lvl5pPr algn="l">
              <a:defRPr sz="1425" b="0">
                <a:solidFill>
                  <a:srgbClr val="D8E6E0"/>
                </a:solidFill>
              </a:defRPr>
            </a:lvl5pPr>
            <a:lvl6pPr algn="l">
              <a:defRPr sz="1425" b="0">
                <a:solidFill>
                  <a:srgbClr val="D8E6E0"/>
                </a:solidFill>
              </a:defRPr>
            </a:lvl6pPr>
            <a:lvl7pPr algn="l">
              <a:defRPr sz="1425" b="0">
                <a:solidFill>
                  <a:srgbClr val="D8E6E0"/>
                </a:solidFill>
              </a:defRPr>
            </a:lvl7pPr>
            <a:lvl8pPr algn="l">
              <a:defRPr sz="1425" b="0">
                <a:solidFill>
                  <a:srgbClr val="D8E6E0"/>
                </a:solidFill>
              </a:defRPr>
            </a:lvl8pPr>
            <a:lvl9pPr algn="l">
              <a:defRPr sz="1425" b="0">
                <a:solidFill>
                  <a:srgbClr val="D8E6E0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D8E6E0"/>
                </a:solidFill>
              </a:defRPr>
            </a:pPr>
            <a:r>
              <a:rPr sz="1425" b="0">
                <a:solidFill>
                  <a:srgbClr val="D8E6E0"/>
                </a:solidFill>
              </a:rPr>
              <a:t>Transportation, mobility, retail transactions, and quarterly revenue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B22AF6-79B5-4AA9-896F-A0F8AA1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7FD4BF"/>
                </a:solidFill>
              </a:defRPr>
            </a:defPPr>
            <a:lvl1pPr algn="l">
              <a:defRPr sz="1350" b="1">
                <a:solidFill>
                  <a:srgbClr val="7FD4BF"/>
                </a:solidFill>
              </a:defRPr>
            </a:lvl1pPr>
            <a:lvl2pPr algn="l">
              <a:defRPr sz="1350" b="1">
                <a:solidFill>
                  <a:srgbClr val="7FD4BF"/>
                </a:solidFill>
              </a:defRPr>
            </a:lvl2pPr>
            <a:lvl3pPr algn="l">
              <a:defRPr sz="1350" b="1">
                <a:solidFill>
                  <a:srgbClr val="7FD4BF"/>
                </a:solidFill>
              </a:defRPr>
            </a:lvl3pPr>
            <a:lvl4pPr algn="l">
              <a:defRPr sz="1350" b="1">
                <a:solidFill>
                  <a:srgbClr val="7FD4BF"/>
                </a:solidFill>
              </a:defRPr>
            </a:lvl4pPr>
            <a:lvl5pPr algn="l">
              <a:defRPr sz="1350" b="1">
                <a:solidFill>
                  <a:srgbClr val="7FD4BF"/>
                </a:solidFill>
              </a:defRPr>
            </a:lvl5pPr>
            <a:lvl6pPr algn="l">
              <a:defRPr sz="1350" b="1">
                <a:solidFill>
                  <a:srgbClr val="7FD4BF"/>
                </a:solidFill>
              </a:defRPr>
            </a:lvl6pPr>
            <a:lvl7pPr algn="l">
              <a:defRPr sz="1350" b="1">
                <a:solidFill>
                  <a:srgbClr val="7FD4BF"/>
                </a:solidFill>
              </a:defRPr>
            </a:lvl7pPr>
            <a:lvl8pPr algn="l">
              <a:defRPr sz="1350" b="1">
                <a:solidFill>
                  <a:srgbClr val="7FD4BF"/>
                </a:solidFill>
              </a:defRPr>
            </a:lvl8pPr>
            <a:lvl9pPr algn="l">
              <a:defRPr sz="1350" b="1">
                <a:solidFill>
                  <a:srgbClr val="7FD4B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7FD4BF"/>
                </a:solidFill>
              </a:defRPr>
            </a:pPr>
            <a:r>
              <a:rPr sz="1350" b="1">
                <a:solidFill>
                  <a:srgbClr val="7FD4BF"/>
                </a:solidFill>
              </a:rPr>
              <a:t>Observed data stay separate from estimates and hypothetical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162AE-2A7F-4F7A-AA8C-CBCC2853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AEC3BA"/>
                </a:solidFill>
              </a:defRPr>
            </a:defPPr>
            <a:lvl1pPr algn="l">
              <a:defRPr sz="900" b="0">
                <a:solidFill>
                  <a:srgbClr val="AEC3BA"/>
                </a:solidFill>
              </a:defRPr>
            </a:lvl1pPr>
            <a:lvl2pPr algn="l">
              <a:defRPr sz="900" b="0">
                <a:solidFill>
                  <a:srgbClr val="AEC3BA"/>
                </a:solidFill>
              </a:defRPr>
            </a:lvl2pPr>
            <a:lvl3pPr algn="l">
              <a:defRPr sz="900" b="0">
                <a:solidFill>
                  <a:srgbClr val="AEC3BA"/>
                </a:solidFill>
              </a:defRPr>
            </a:lvl3pPr>
            <a:lvl4pPr algn="l">
              <a:defRPr sz="900" b="0">
                <a:solidFill>
                  <a:srgbClr val="AEC3BA"/>
                </a:solidFill>
              </a:defRPr>
            </a:lvl4pPr>
            <a:lvl5pPr algn="l">
              <a:defRPr sz="900" b="0">
                <a:solidFill>
                  <a:srgbClr val="AEC3BA"/>
                </a:solidFill>
              </a:defRPr>
            </a:lvl5pPr>
            <a:lvl6pPr algn="l">
              <a:defRPr sz="900" b="0">
                <a:solidFill>
                  <a:srgbClr val="AEC3BA"/>
                </a:solidFill>
              </a:defRPr>
            </a:lvl6pPr>
            <a:lvl7pPr algn="l">
              <a:defRPr sz="900" b="0">
                <a:solidFill>
                  <a:srgbClr val="AEC3BA"/>
                </a:solidFill>
              </a:defRPr>
            </a:lvl7pPr>
            <a:lvl8pPr algn="l">
              <a:defRPr sz="900" b="0">
                <a:solidFill>
                  <a:srgbClr val="AEC3BA"/>
                </a:solidFill>
              </a:defRPr>
            </a:lvl8pPr>
            <a:lvl9pPr algn="l">
              <a:defRPr sz="900" b="0">
                <a:solidFill>
                  <a:srgbClr val="AEC3BA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AEC3BA"/>
                </a:solidFill>
              </a:defRPr>
            </a:pPr>
            <a:r>
              <a:rPr sz="900" b="0">
                <a:solidFill>
                  <a:srgbClr val="AEC3BA"/>
                </a:solidFill>
              </a:rPr>
              <a:t>EDA evidence upgrade</a:t>
            </a:r>
          </a:p>
        </p:txBody>
      </p:sp>
    </p:spTree>
    <p:extLst>
      <p:ext uri="{BB962C8B-B14F-4D97-AF65-F5344CB8AC3E}">
        <p14:creationId xmlns:p14="http://schemas.microsoft.com/office/powerpoint/2010/main" val="1218201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92748-6120-4B62-AF97-71B545B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1"/>
                </a:solidFill>
              </a:defRPr>
            </a:defPPr>
            <a:lvl1pPr algn="l">
              <a:defRPr sz="900" b="1">
                <a:solidFill>
                  <a:srgbClr val="087F71"/>
                </a:solidFill>
              </a:defRPr>
            </a:lvl1pPr>
            <a:lvl2pPr algn="l">
              <a:defRPr sz="900" b="1">
                <a:solidFill>
                  <a:srgbClr val="087F71"/>
                </a:solidFill>
              </a:defRPr>
            </a:lvl2pPr>
            <a:lvl3pPr algn="l">
              <a:defRPr sz="900" b="1">
                <a:solidFill>
                  <a:srgbClr val="087F71"/>
                </a:solidFill>
              </a:defRPr>
            </a:lvl3pPr>
            <a:lvl4pPr algn="l">
              <a:defRPr sz="900" b="1">
                <a:solidFill>
                  <a:srgbClr val="087F71"/>
                </a:solidFill>
              </a:defRPr>
            </a:lvl4pPr>
            <a:lvl5pPr algn="l">
              <a:defRPr sz="900" b="1">
                <a:solidFill>
                  <a:srgbClr val="087F71"/>
                </a:solidFill>
              </a:defRPr>
            </a:lvl5pPr>
            <a:lvl6pPr algn="l">
              <a:defRPr sz="900" b="1">
                <a:solidFill>
                  <a:srgbClr val="087F71"/>
                </a:solidFill>
              </a:defRPr>
            </a:lvl6pPr>
            <a:lvl7pPr algn="l">
              <a:defRPr sz="900" b="1">
                <a:solidFill>
                  <a:srgbClr val="087F71"/>
                </a:solidFill>
              </a:defRPr>
            </a:lvl7pPr>
            <a:lvl8pPr algn="l">
              <a:defRPr sz="900" b="1">
                <a:solidFill>
                  <a:srgbClr val="087F71"/>
                </a:solidFill>
              </a:defRPr>
            </a:lvl8pPr>
            <a:lvl9pPr algn="l">
              <a:defRPr sz="9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87F71"/>
                </a:solidFill>
              </a:defRPr>
            </a:pPr>
            <a:r>
              <a:rPr sz="900" b="1">
                <a:solidFill>
                  <a:srgbClr val="087F71"/>
                </a:solidFill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66B9C-F9D5-4438-A2D7-F6068501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32D"/>
                </a:solidFill>
              </a:defRPr>
            </a:defPPr>
            <a:lvl1pPr algn="l">
              <a:defRPr sz="2550" b="1">
                <a:solidFill>
                  <a:srgbClr val="17332D"/>
                </a:solidFill>
              </a:defRPr>
            </a:lvl1pPr>
            <a:lvl2pPr algn="l">
              <a:defRPr sz="2550" b="1">
                <a:solidFill>
                  <a:srgbClr val="17332D"/>
                </a:solidFill>
              </a:defRPr>
            </a:lvl2pPr>
            <a:lvl3pPr algn="l">
              <a:defRPr sz="2550" b="1">
                <a:solidFill>
                  <a:srgbClr val="17332D"/>
                </a:solidFill>
              </a:defRPr>
            </a:lvl3pPr>
            <a:lvl4pPr algn="l">
              <a:defRPr sz="2550" b="1">
                <a:solidFill>
                  <a:srgbClr val="17332D"/>
                </a:solidFill>
              </a:defRPr>
            </a:lvl4pPr>
            <a:lvl5pPr algn="l">
              <a:defRPr sz="2550" b="1">
                <a:solidFill>
                  <a:srgbClr val="17332D"/>
                </a:solidFill>
              </a:defRPr>
            </a:lvl5pPr>
            <a:lvl6pPr algn="l">
              <a:defRPr sz="2550" b="1">
                <a:solidFill>
                  <a:srgbClr val="17332D"/>
                </a:solidFill>
              </a:defRPr>
            </a:lvl6pPr>
            <a:lvl7pPr algn="l">
              <a:defRPr sz="2550" b="1">
                <a:solidFill>
                  <a:srgbClr val="17332D"/>
                </a:solidFill>
              </a:defRPr>
            </a:lvl7pPr>
            <a:lvl8pPr algn="l">
              <a:defRPr sz="2550" b="1">
                <a:solidFill>
                  <a:srgbClr val="17332D"/>
                </a:solidFill>
              </a:defRPr>
            </a:lvl8pPr>
            <a:lvl9pPr algn="l">
              <a:defRPr sz="25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32D"/>
                </a:solidFill>
              </a:defRPr>
            </a:pPr>
            <a:r>
              <a:rPr sz="2550" b="1">
                <a:solidFill>
                  <a:srgbClr val="17332D"/>
                </a:solidFill>
              </a:rPr>
              <a:t>Four case studies with different evidence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216F8-ABD6-4FDC-BFB5-44B4B986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687FF-F210-452C-A145-78863969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64736C"/>
                </a:solidFill>
              </a:defRPr>
            </a:defPPr>
            <a:lvl1pPr algn="r">
              <a:defRPr sz="900" b="1">
                <a:solidFill>
                  <a:srgbClr val="64736C"/>
                </a:solidFill>
              </a:defRPr>
            </a:lvl1pPr>
            <a:lvl2pPr algn="r">
              <a:defRPr sz="900" b="1">
                <a:solidFill>
                  <a:srgbClr val="64736C"/>
                </a:solidFill>
              </a:defRPr>
            </a:lvl2pPr>
            <a:lvl3pPr algn="r">
              <a:defRPr sz="900" b="1">
                <a:solidFill>
                  <a:srgbClr val="64736C"/>
                </a:solidFill>
              </a:defRPr>
            </a:lvl3pPr>
            <a:lvl4pPr algn="r">
              <a:defRPr sz="900" b="1">
                <a:solidFill>
                  <a:srgbClr val="64736C"/>
                </a:solidFill>
              </a:defRPr>
            </a:lvl4pPr>
            <a:lvl5pPr algn="r">
              <a:defRPr sz="900" b="1">
                <a:solidFill>
                  <a:srgbClr val="64736C"/>
                </a:solidFill>
              </a:defRPr>
            </a:lvl5pPr>
            <a:lvl6pPr algn="r">
              <a:defRPr sz="900" b="1">
                <a:solidFill>
                  <a:srgbClr val="64736C"/>
                </a:solidFill>
              </a:defRPr>
            </a:lvl6pPr>
            <a:lvl7pPr algn="r">
              <a:defRPr sz="900" b="1">
                <a:solidFill>
                  <a:srgbClr val="64736C"/>
                </a:solidFill>
              </a:defRPr>
            </a:lvl7pPr>
            <a:lvl8pPr algn="r">
              <a:defRPr sz="900" b="1">
                <a:solidFill>
                  <a:srgbClr val="64736C"/>
                </a:solidFill>
              </a:defRPr>
            </a:lvl8pPr>
            <a:lvl9pPr algn="r">
              <a:defRPr sz="900" b="1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4736C"/>
                </a:solidFill>
              </a:defRPr>
            </a:pPr>
            <a:r>
              <a:rPr sz="900" b="1">
                <a:solidFill>
                  <a:srgbClr val="64736C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A0B46-5B36-4EA4-A7D5-1E36BB9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64736C"/>
                </a:solidFill>
              </a:defRPr>
            </a:defPPr>
            <a:lvl1pPr algn="l">
              <a:defRPr sz="900" b="0">
                <a:solidFill>
                  <a:srgbClr val="64736C"/>
                </a:solidFill>
              </a:defRPr>
            </a:lvl1pPr>
            <a:lvl2pPr algn="l">
              <a:defRPr sz="900" b="0">
                <a:solidFill>
                  <a:srgbClr val="64736C"/>
                </a:solidFill>
              </a:defRPr>
            </a:lvl2pPr>
            <a:lvl3pPr algn="l">
              <a:defRPr sz="900" b="0">
                <a:solidFill>
                  <a:srgbClr val="64736C"/>
                </a:solidFill>
              </a:defRPr>
            </a:lvl3pPr>
            <a:lvl4pPr algn="l">
              <a:defRPr sz="900" b="0">
                <a:solidFill>
                  <a:srgbClr val="64736C"/>
                </a:solidFill>
              </a:defRPr>
            </a:lvl4pPr>
            <a:lvl5pPr algn="l">
              <a:defRPr sz="900" b="0">
                <a:solidFill>
                  <a:srgbClr val="64736C"/>
                </a:solidFill>
              </a:defRPr>
            </a:lvl5pPr>
            <a:lvl6pPr algn="l">
              <a:defRPr sz="900" b="0">
                <a:solidFill>
                  <a:srgbClr val="64736C"/>
                </a:solidFill>
              </a:defRPr>
            </a:lvl6pPr>
            <a:lvl7pPr algn="l">
              <a:defRPr sz="900" b="0">
                <a:solidFill>
                  <a:srgbClr val="64736C"/>
                </a:solidFill>
              </a:defRPr>
            </a:lvl7pPr>
            <a:lvl8pPr algn="l">
              <a:defRPr sz="900" b="0">
                <a:solidFill>
                  <a:srgbClr val="64736C"/>
                </a:solidFill>
              </a:defRPr>
            </a:lvl8pPr>
            <a:lvl9pPr algn="l">
              <a:defRPr sz="90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4736C"/>
                </a:solidFill>
              </a:defRPr>
            </a:pPr>
            <a:r>
              <a:rPr sz="900" b="0">
                <a:solidFill>
                  <a:srgbClr val="64736C"/>
                </a:solidFill>
              </a:rPr>
              <a:t>WeatherBizAnalysis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B3AFA-6D29-4816-AFFF-03FE85452B07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381125"/>
                <a:gridCol w="952500"/>
                <a:gridCol w="781050"/>
                <a:gridCol w="1200150"/>
                <a:gridCol w="4314825"/>
              </a:tblGrid>
              <a:tr h="62103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76200" marR="76200" marT="66675" marB="66675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Geography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Cadence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Weather match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What the value represents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NYC Yellow Taxi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New York City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Hourly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1,488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100%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Reported TLC trips. Two snapshots with a long gap.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Citi Bike NYC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New York City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Daily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120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100%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Observed rides. Revenue uses an assumed fare.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Online Retail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United Kingdom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Daily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305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100%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Reported orders. London weather serves as a proxy.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Chipotle SEC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United States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Quarterly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27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0%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Reported revenue. Weather inference remains disabled.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E632F-8678-4CB3-AD40-012C3606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87F71"/>
                </a:solidFill>
              </a:defRPr>
            </a:defPPr>
            <a:lvl1pPr algn="l">
              <a:defRPr sz="1575" b="1">
                <a:solidFill>
                  <a:srgbClr val="087F71"/>
                </a:solidFill>
              </a:defRPr>
            </a:lvl1pPr>
            <a:lvl2pPr algn="l">
              <a:defRPr sz="1575" b="1">
                <a:solidFill>
                  <a:srgbClr val="087F71"/>
                </a:solidFill>
              </a:defRPr>
            </a:lvl2pPr>
            <a:lvl3pPr algn="l">
              <a:defRPr sz="1575" b="1">
                <a:solidFill>
                  <a:srgbClr val="087F71"/>
                </a:solidFill>
              </a:defRPr>
            </a:lvl3pPr>
            <a:lvl4pPr algn="l">
              <a:defRPr sz="1575" b="1">
                <a:solidFill>
                  <a:srgbClr val="087F71"/>
                </a:solidFill>
              </a:defRPr>
            </a:lvl4pPr>
            <a:lvl5pPr algn="l">
              <a:defRPr sz="1575" b="1">
                <a:solidFill>
                  <a:srgbClr val="087F71"/>
                </a:solidFill>
              </a:defRPr>
            </a:lvl5pPr>
            <a:lvl6pPr algn="l">
              <a:defRPr sz="1575" b="1">
                <a:solidFill>
                  <a:srgbClr val="087F71"/>
                </a:solidFill>
              </a:defRPr>
            </a:lvl6pPr>
            <a:lvl7pPr algn="l">
              <a:defRPr sz="1575" b="1">
                <a:solidFill>
                  <a:srgbClr val="087F71"/>
                </a:solidFill>
              </a:defRPr>
            </a:lvl7pPr>
            <a:lvl8pPr algn="l">
              <a:defRPr sz="1575" b="1">
                <a:solidFill>
                  <a:srgbClr val="087F71"/>
                </a:solidFill>
              </a:defRPr>
            </a:lvl8pPr>
            <a:lvl9pPr algn="l">
              <a:defRPr sz="1575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71"/>
                </a:solidFill>
              </a:defRPr>
            </a:pPr>
            <a:r>
              <a:rPr sz="1575" b="1">
                <a:solidFill>
                  <a:srgbClr val="087F71"/>
                </a:solidFill>
              </a:rPr>
              <a:t>The same audit framework applies to all four cases. Their coefficients do not belong in one ranking because geography, cadence, and outcome definitions differ.</a:t>
            </a:r>
          </a:p>
        </p:txBody>
      </p:sp>
    </p:spTree>
    <p:extLst>
      <p:ext uri="{BB962C8B-B14F-4D97-AF65-F5344CB8AC3E}">
        <p14:creationId xmlns:p14="http://schemas.microsoft.com/office/powerpoint/2010/main" val="756073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B0401-90C2-439D-BE90-9AD6F1B6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1"/>
                </a:solidFill>
              </a:defRPr>
            </a:defPPr>
            <a:lvl1pPr algn="l">
              <a:defRPr sz="900" b="1">
                <a:solidFill>
                  <a:srgbClr val="087F71"/>
                </a:solidFill>
              </a:defRPr>
            </a:lvl1pPr>
            <a:lvl2pPr algn="l">
              <a:defRPr sz="900" b="1">
                <a:solidFill>
                  <a:srgbClr val="087F71"/>
                </a:solidFill>
              </a:defRPr>
            </a:lvl2pPr>
            <a:lvl3pPr algn="l">
              <a:defRPr sz="900" b="1">
                <a:solidFill>
                  <a:srgbClr val="087F71"/>
                </a:solidFill>
              </a:defRPr>
            </a:lvl3pPr>
            <a:lvl4pPr algn="l">
              <a:defRPr sz="900" b="1">
                <a:solidFill>
                  <a:srgbClr val="087F71"/>
                </a:solidFill>
              </a:defRPr>
            </a:lvl4pPr>
            <a:lvl5pPr algn="l">
              <a:defRPr sz="900" b="1">
                <a:solidFill>
                  <a:srgbClr val="087F71"/>
                </a:solidFill>
              </a:defRPr>
            </a:lvl5pPr>
            <a:lvl6pPr algn="l">
              <a:defRPr sz="900" b="1">
                <a:solidFill>
                  <a:srgbClr val="087F71"/>
                </a:solidFill>
              </a:defRPr>
            </a:lvl6pPr>
            <a:lvl7pPr algn="l">
              <a:defRPr sz="900" b="1">
                <a:solidFill>
                  <a:srgbClr val="087F71"/>
                </a:solidFill>
              </a:defRPr>
            </a:lvl7pPr>
            <a:lvl8pPr algn="l">
              <a:defRPr sz="900" b="1">
                <a:solidFill>
                  <a:srgbClr val="087F71"/>
                </a:solidFill>
              </a:defRPr>
            </a:lvl8pPr>
            <a:lvl9pPr algn="l">
              <a:defRPr sz="9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87F71"/>
                </a:solidFill>
              </a:defRPr>
            </a:pPr>
            <a:r>
              <a:rPr sz="900" b="1">
                <a:solidFill>
                  <a:srgbClr val="087F71"/>
                </a:solidFill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CF6FB-FC49-4772-A583-B9B8C17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32D"/>
                </a:solidFill>
              </a:defRPr>
            </a:defPPr>
            <a:lvl1pPr algn="l">
              <a:defRPr sz="2550" b="1">
                <a:solidFill>
                  <a:srgbClr val="17332D"/>
                </a:solidFill>
              </a:defRPr>
            </a:lvl1pPr>
            <a:lvl2pPr algn="l">
              <a:defRPr sz="2550" b="1">
                <a:solidFill>
                  <a:srgbClr val="17332D"/>
                </a:solidFill>
              </a:defRPr>
            </a:lvl2pPr>
            <a:lvl3pPr algn="l">
              <a:defRPr sz="2550" b="1">
                <a:solidFill>
                  <a:srgbClr val="17332D"/>
                </a:solidFill>
              </a:defRPr>
            </a:lvl3pPr>
            <a:lvl4pPr algn="l">
              <a:defRPr sz="2550" b="1">
                <a:solidFill>
                  <a:srgbClr val="17332D"/>
                </a:solidFill>
              </a:defRPr>
            </a:lvl4pPr>
            <a:lvl5pPr algn="l">
              <a:defRPr sz="2550" b="1">
                <a:solidFill>
                  <a:srgbClr val="17332D"/>
                </a:solidFill>
              </a:defRPr>
            </a:lvl5pPr>
            <a:lvl6pPr algn="l">
              <a:defRPr sz="2550" b="1">
                <a:solidFill>
                  <a:srgbClr val="17332D"/>
                </a:solidFill>
              </a:defRPr>
            </a:lvl6pPr>
            <a:lvl7pPr algn="l">
              <a:defRPr sz="2550" b="1">
                <a:solidFill>
                  <a:srgbClr val="17332D"/>
                </a:solidFill>
              </a:defRPr>
            </a:lvl7pPr>
            <a:lvl8pPr algn="l">
              <a:defRPr sz="2550" b="1">
                <a:solidFill>
                  <a:srgbClr val="17332D"/>
                </a:solidFill>
              </a:defRPr>
            </a:lvl8pPr>
            <a:lvl9pPr algn="l">
              <a:defRPr sz="25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32D"/>
                </a:solidFill>
              </a:defRPr>
            </a:pPr>
            <a:r>
              <a:rPr sz="2550" b="1">
                <a:solidFill>
                  <a:srgbClr val="17332D"/>
                </a:solidFill>
              </a:rPr>
              <a:t>Cleaning choices remain visible and reversible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6D5D6-A87A-4137-AD4E-4F2BBF51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1306D-F22E-4895-9D0D-2290CAE3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64736C"/>
                </a:solidFill>
              </a:defRPr>
            </a:defPPr>
            <a:lvl1pPr algn="r">
              <a:defRPr sz="900" b="1">
                <a:solidFill>
                  <a:srgbClr val="64736C"/>
                </a:solidFill>
              </a:defRPr>
            </a:lvl1pPr>
            <a:lvl2pPr algn="r">
              <a:defRPr sz="900" b="1">
                <a:solidFill>
                  <a:srgbClr val="64736C"/>
                </a:solidFill>
              </a:defRPr>
            </a:lvl2pPr>
            <a:lvl3pPr algn="r">
              <a:defRPr sz="900" b="1">
                <a:solidFill>
                  <a:srgbClr val="64736C"/>
                </a:solidFill>
              </a:defRPr>
            </a:lvl3pPr>
            <a:lvl4pPr algn="r">
              <a:defRPr sz="900" b="1">
                <a:solidFill>
                  <a:srgbClr val="64736C"/>
                </a:solidFill>
              </a:defRPr>
            </a:lvl4pPr>
            <a:lvl5pPr algn="r">
              <a:defRPr sz="900" b="1">
                <a:solidFill>
                  <a:srgbClr val="64736C"/>
                </a:solidFill>
              </a:defRPr>
            </a:lvl5pPr>
            <a:lvl6pPr algn="r">
              <a:defRPr sz="900" b="1">
                <a:solidFill>
                  <a:srgbClr val="64736C"/>
                </a:solidFill>
              </a:defRPr>
            </a:lvl6pPr>
            <a:lvl7pPr algn="r">
              <a:defRPr sz="900" b="1">
                <a:solidFill>
                  <a:srgbClr val="64736C"/>
                </a:solidFill>
              </a:defRPr>
            </a:lvl7pPr>
            <a:lvl8pPr algn="r">
              <a:defRPr sz="900" b="1">
                <a:solidFill>
                  <a:srgbClr val="64736C"/>
                </a:solidFill>
              </a:defRPr>
            </a:lvl8pPr>
            <a:lvl9pPr algn="r">
              <a:defRPr sz="900" b="1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4736C"/>
                </a:solidFill>
              </a:defRPr>
            </a:pPr>
            <a:r>
              <a:rPr sz="900" b="1">
                <a:solidFill>
                  <a:srgbClr val="64736C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AFA5F-6D48-48A9-8292-92285DD3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64736C"/>
                </a:solidFill>
              </a:defRPr>
            </a:defPPr>
            <a:lvl1pPr algn="l">
              <a:defRPr sz="900" b="0">
                <a:solidFill>
                  <a:srgbClr val="64736C"/>
                </a:solidFill>
              </a:defRPr>
            </a:lvl1pPr>
            <a:lvl2pPr algn="l">
              <a:defRPr sz="900" b="0">
                <a:solidFill>
                  <a:srgbClr val="64736C"/>
                </a:solidFill>
              </a:defRPr>
            </a:lvl2pPr>
            <a:lvl3pPr algn="l">
              <a:defRPr sz="900" b="0">
                <a:solidFill>
                  <a:srgbClr val="64736C"/>
                </a:solidFill>
              </a:defRPr>
            </a:lvl3pPr>
            <a:lvl4pPr algn="l">
              <a:defRPr sz="900" b="0">
                <a:solidFill>
                  <a:srgbClr val="64736C"/>
                </a:solidFill>
              </a:defRPr>
            </a:lvl4pPr>
            <a:lvl5pPr algn="l">
              <a:defRPr sz="900" b="0">
                <a:solidFill>
                  <a:srgbClr val="64736C"/>
                </a:solidFill>
              </a:defRPr>
            </a:lvl5pPr>
            <a:lvl6pPr algn="l">
              <a:defRPr sz="900" b="0">
                <a:solidFill>
                  <a:srgbClr val="64736C"/>
                </a:solidFill>
              </a:defRPr>
            </a:lvl6pPr>
            <a:lvl7pPr algn="l">
              <a:defRPr sz="900" b="0">
                <a:solidFill>
                  <a:srgbClr val="64736C"/>
                </a:solidFill>
              </a:defRPr>
            </a:lvl7pPr>
            <a:lvl8pPr algn="l">
              <a:defRPr sz="900" b="0">
                <a:solidFill>
                  <a:srgbClr val="64736C"/>
                </a:solidFill>
              </a:defRPr>
            </a:lvl8pPr>
            <a:lvl9pPr algn="l">
              <a:defRPr sz="90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4736C"/>
                </a:solidFill>
              </a:defRPr>
            </a:pPr>
            <a:r>
              <a:rPr sz="900" b="0">
                <a:solidFill>
                  <a:srgbClr val="64736C"/>
                </a:solidFill>
              </a:rPr>
              <a:t>WeatherBizAnalysis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1E59FB9-4987-4E12-9E2C-0B79083996AE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79da3afc6f4c7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03088-8AC9-410C-95B7-580D5F80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7332D"/>
                </a:solidFill>
              </a:defRPr>
            </a:defPPr>
            <a:lvl1pPr algn="l">
              <a:defRPr sz="1725" b="1">
                <a:solidFill>
                  <a:srgbClr val="17332D"/>
                </a:solidFill>
              </a:defRPr>
            </a:lvl1pPr>
            <a:lvl2pPr algn="l">
              <a:defRPr sz="1725" b="1">
                <a:solidFill>
                  <a:srgbClr val="17332D"/>
                </a:solidFill>
              </a:defRPr>
            </a:lvl2pPr>
            <a:lvl3pPr algn="l">
              <a:defRPr sz="1725" b="1">
                <a:solidFill>
                  <a:srgbClr val="17332D"/>
                </a:solidFill>
              </a:defRPr>
            </a:lvl3pPr>
            <a:lvl4pPr algn="l">
              <a:defRPr sz="1725" b="1">
                <a:solidFill>
                  <a:srgbClr val="17332D"/>
                </a:solidFill>
              </a:defRPr>
            </a:lvl4pPr>
            <a:lvl5pPr algn="l">
              <a:defRPr sz="1725" b="1">
                <a:solidFill>
                  <a:srgbClr val="17332D"/>
                </a:solidFill>
              </a:defRPr>
            </a:lvl5pPr>
            <a:lvl6pPr algn="l">
              <a:defRPr sz="1725" b="1">
                <a:solidFill>
                  <a:srgbClr val="17332D"/>
                </a:solidFill>
              </a:defRPr>
            </a:lvl6pPr>
            <a:lvl7pPr algn="l">
              <a:defRPr sz="1725" b="1">
                <a:solidFill>
                  <a:srgbClr val="17332D"/>
                </a:solidFill>
              </a:defRPr>
            </a:lvl7pPr>
            <a:lvl8pPr algn="l">
              <a:defRPr sz="1725" b="1">
                <a:solidFill>
                  <a:srgbClr val="17332D"/>
                </a:solidFill>
              </a:defRPr>
            </a:lvl8pPr>
            <a:lvl9pPr algn="l">
              <a:defRPr sz="1725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332D"/>
                </a:solidFill>
              </a:defRPr>
            </a:pPr>
            <a:r>
              <a:rPr sz="1725" b="1">
                <a:solidFill>
                  <a:srgbClr val="17332D"/>
                </a:solidFill>
              </a:rPr>
              <a:t>Quality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7D71F-E055-4921-9CF9-B7642E40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87F71"/>
                </a:solidFill>
              </a:defRPr>
            </a:defPPr>
            <a:lvl1pPr algn="l">
              <a:defRPr sz="1200" b="1">
                <a:solidFill>
                  <a:srgbClr val="087F71"/>
                </a:solidFill>
              </a:defRPr>
            </a:lvl1pPr>
            <a:lvl2pPr algn="l">
              <a:defRPr sz="1200" b="1">
                <a:solidFill>
                  <a:srgbClr val="087F71"/>
                </a:solidFill>
              </a:defRPr>
            </a:lvl2pPr>
            <a:lvl3pPr algn="l">
              <a:defRPr sz="1200" b="1">
                <a:solidFill>
                  <a:srgbClr val="087F71"/>
                </a:solidFill>
              </a:defRPr>
            </a:lvl3pPr>
            <a:lvl4pPr algn="l">
              <a:defRPr sz="1200" b="1">
                <a:solidFill>
                  <a:srgbClr val="087F71"/>
                </a:solidFill>
              </a:defRPr>
            </a:lvl4pPr>
            <a:lvl5pPr algn="l">
              <a:defRPr sz="1200" b="1">
                <a:solidFill>
                  <a:srgbClr val="087F71"/>
                </a:solidFill>
              </a:defRPr>
            </a:lvl5pPr>
            <a:lvl6pPr algn="l">
              <a:defRPr sz="1200" b="1">
                <a:solidFill>
                  <a:srgbClr val="087F71"/>
                </a:solidFill>
              </a:defRPr>
            </a:lvl6pPr>
            <a:lvl7pPr algn="l">
              <a:defRPr sz="1200" b="1">
                <a:solidFill>
                  <a:srgbClr val="087F71"/>
                </a:solidFill>
              </a:defRPr>
            </a:lvl7pPr>
            <a:lvl8pPr algn="l">
              <a:defRPr sz="1200" b="1">
                <a:solidFill>
                  <a:srgbClr val="087F71"/>
                </a:solidFill>
              </a:defRPr>
            </a:lvl8pPr>
            <a:lvl9pPr algn="l">
              <a:defRPr sz="12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F71"/>
                </a:solidFill>
              </a:defRPr>
            </a:pPr>
            <a:r>
              <a:rPr sz="1200" b="1">
                <a:solidFill>
                  <a:srgbClr val="087F71"/>
                </a:solidFill>
              </a:rPr>
              <a:t>Duplicates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A8646-B108-45D0-909F-93456D88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Exact duplicate rows are counted before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8B3F4-C383-4BBD-9942-3E7B5F47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87F71"/>
                </a:solidFill>
              </a:defRPr>
            </a:defPPr>
            <a:lvl1pPr algn="l">
              <a:defRPr sz="1200" b="1">
                <a:solidFill>
                  <a:srgbClr val="087F71"/>
                </a:solidFill>
              </a:defRPr>
            </a:lvl1pPr>
            <a:lvl2pPr algn="l">
              <a:defRPr sz="1200" b="1">
                <a:solidFill>
                  <a:srgbClr val="087F71"/>
                </a:solidFill>
              </a:defRPr>
            </a:lvl2pPr>
            <a:lvl3pPr algn="l">
              <a:defRPr sz="1200" b="1">
                <a:solidFill>
                  <a:srgbClr val="087F71"/>
                </a:solidFill>
              </a:defRPr>
            </a:lvl3pPr>
            <a:lvl4pPr algn="l">
              <a:defRPr sz="1200" b="1">
                <a:solidFill>
                  <a:srgbClr val="087F71"/>
                </a:solidFill>
              </a:defRPr>
            </a:lvl4pPr>
            <a:lvl5pPr algn="l">
              <a:defRPr sz="1200" b="1">
                <a:solidFill>
                  <a:srgbClr val="087F71"/>
                </a:solidFill>
              </a:defRPr>
            </a:lvl5pPr>
            <a:lvl6pPr algn="l">
              <a:defRPr sz="1200" b="1">
                <a:solidFill>
                  <a:srgbClr val="087F71"/>
                </a:solidFill>
              </a:defRPr>
            </a:lvl6pPr>
            <a:lvl7pPr algn="l">
              <a:defRPr sz="1200" b="1">
                <a:solidFill>
                  <a:srgbClr val="087F71"/>
                </a:solidFill>
              </a:defRPr>
            </a:lvl7pPr>
            <a:lvl8pPr algn="l">
              <a:defRPr sz="1200" b="1">
                <a:solidFill>
                  <a:srgbClr val="087F71"/>
                </a:solidFill>
              </a:defRPr>
            </a:lvl8pPr>
            <a:lvl9pPr algn="l">
              <a:defRPr sz="12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F71"/>
                </a:solidFill>
              </a:defRPr>
            </a:pPr>
            <a:r>
              <a:rPr sz="1200" b="1">
                <a:solidFill>
                  <a:srgbClr val="087F71"/>
                </a:solidFill>
              </a:rPr>
              <a:t>Missingness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86BBF-C114-4C0D-809C-20E649C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19475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The project labels likely mechanisms and never invents weather for the SEC series.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69C96-AE7B-4B21-B8F8-2B444157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87F71"/>
                </a:solidFill>
              </a:defRPr>
            </a:defPPr>
            <a:lvl1pPr algn="l">
              <a:defRPr sz="1200" b="1">
                <a:solidFill>
                  <a:srgbClr val="087F71"/>
                </a:solidFill>
              </a:defRPr>
            </a:lvl1pPr>
            <a:lvl2pPr algn="l">
              <a:defRPr sz="1200" b="1">
                <a:solidFill>
                  <a:srgbClr val="087F71"/>
                </a:solidFill>
              </a:defRPr>
            </a:lvl2pPr>
            <a:lvl3pPr algn="l">
              <a:defRPr sz="1200" b="1">
                <a:solidFill>
                  <a:srgbClr val="087F71"/>
                </a:solidFill>
              </a:defRPr>
            </a:lvl3pPr>
            <a:lvl4pPr algn="l">
              <a:defRPr sz="1200" b="1">
                <a:solidFill>
                  <a:srgbClr val="087F71"/>
                </a:solidFill>
              </a:defRPr>
            </a:lvl4pPr>
            <a:lvl5pPr algn="l">
              <a:defRPr sz="1200" b="1">
                <a:solidFill>
                  <a:srgbClr val="087F71"/>
                </a:solidFill>
              </a:defRPr>
            </a:lvl5pPr>
            <a:lvl6pPr algn="l">
              <a:defRPr sz="1200" b="1">
                <a:solidFill>
                  <a:srgbClr val="087F71"/>
                </a:solidFill>
              </a:defRPr>
            </a:lvl6pPr>
            <a:lvl7pPr algn="l">
              <a:defRPr sz="1200" b="1">
                <a:solidFill>
                  <a:srgbClr val="087F71"/>
                </a:solidFill>
              </a:defRPr>
            </a:lvl7pPr>
            <a:lvl8pPr algn="l">
              <a:defRPr sz="1200" b="1">
                <a:solidFill>
                  <a:srgbClr val="087F71"/>
                </a:solidFill>
              </a:defRPr>
            </a:lvl8pPr>
            <a:lvl9pPr algn="l">
              <a:defRPr sz="12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F71"/>
                </a:solidFill>
              </a:defRPr>
            </a:pPr>
            <a:r>
              <a:rPr sz="1200" b="1">
                <a:solidFill>
                  <a:srgbClr val="087F71"/>
                </a:solidFill>
              </a:rPr>
              <a:t>Outliers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09A02-9B41-43A2-A305-BC196665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00575"/>
            <a:ext cx="352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IQR and Isolation Forest flags stay in the dataset when the observations remain plausible.</a:t>
            </a:r>
          </a:p>
        </p:txBody>
      </p:sp>
    </p:spTree>
    <p:extLst>
      <p:ext uri="{BB962C8B-B14F-4D97-AF65-F5344CB8AC3E}">
        <p14:creationId xmlns:p14="http://schemas.microsoft.com/office/powerpoint/2010/main" val="7437817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A1D6C-DBA2-455F-A968-AC7C9B5A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1"/>
                </a:solidFill>
              </a:defRPr>
            </a:defPPr>
            <a:lvl1pPr algn="l">
              <a:defRPr sz="900" b="1">
                <a:solidFill>
                  <a:srgbClr val="087F71"/>
                </a:solidFill>
              </a:defRPr>
            </a:lvl1pPr>
            <a:lvl2pPr algn="l">
              <a:defRPr sz="900" b="1">
                <a:solidFill>
                  <a:srgbClr val="087F71"/>
                </a:solidFill>
              </a:defRPr>
            </a:lvl2pPr>
            <a:lvl3pPr algn="l">
              <a:defRPr sz="900" b="1">
                <a:solidFill>
                  <a:srgbClr val="087F71"/>
                </a:solidFill>
              </a:defRPr>
            </a:lvl3pPr>
            <a:lvl4pPr algn="l">
              <a:defRPr sz="900" b="1">
                <a:solidFill>
                  <a:srgbClr val="087F71"/>
                </a:solidFill>
              </a:defRPr>
            </a:lvl4pPr>
            <a:lvl5pPr algn="l">
              <a:defRPr sz="900" b="1">
                <a:solidFill>
                  <a:srgbClr val="087F71"/>
                </a:solidFill>
              </a:defRPr>
            </a:lvl5pPr>
            <a:lvl6pPr algn="l">
              <a:defRPr sz="900" b="1">
                <a:solidFill>
                  <a:srgbClr val="087F71"/>
                </a:solidFill>
              </a:defRPr>
            </a:lvl6pPr>
            <a:lvl7pPr algn="l">
              <a:defRPr sz="900" b="1">
                <a:solidFill>
                  <a:srgbClr val="087F71"/>
                </a:solidFill>
              </a:defRPr>
            </a:lvl7pPr>
            <a:lvl8pPr algn="l">
              <a:defRPr sz="900" b="1">
                <a:solidFill>
                  <a:srgbClr val="087F71"/>
                </a:solidFill>
              </a:defRPr>
            </a:lvl8pPr>
            <a:lvl9pPr algn="l">
              <a:defRPr sz="9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87F71"/>
                </a:solidFill>
              </a:defRPr>
            </a:pPr>
            <a:r>
              <a:rPr sz="900" b="1">
                <a:solidFill>
                  <a:srgbClr val="087F71"/>
                </a:solidFill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1CB69-78F2-44D9-BAD4-577D7F39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32D"/>
                </a:solidFill>
              </a:defRPr>
            </a:defPPr>
            <a:lvl1pPr algn="l">
              <a:defRPr sz="2550" b="1">
                <a:solidFill>
                  <a:srgbClr val="17332D"/>
                </a:solidFill>
              </a:defRPr>
            </a:lvl1pPr>
            <a:lvl2pPr algn="l">
              <a:defRPr sz="2550" b="1">
                <a:solidFill>
                  <a:srgbClr val="17332D"/>
                </a:solidFill>
              </a:defRPr>
            </a:lvl2pPr>
            <a:lvl3pPr algn="l">
              <a:defRPr sz="2550" b="1">
                <a:solidFill>
                  <a:srgbClr val="17332D"/>
                </a:solidFill>
              </a:defRPr>
            </a:lvl3pPr>
            <a:lvl4pPr algn="l">
              <a:defRPr sz="2550" b="1">
                <a:solidFill>
                  <a:srgbClr val="17332D"/>
                </a:solidFill>
              </a:defRPr>
            </a:lvl4pPr>
            <a:lvl5pPr algn="l">
              <a:defRPr sz="2550" b="1">
                <a:solidFill>
                  <a:srgbClr val="17332D"/>
                </a:solidFill>
              </a:defRPr>
            </a:lvl5pPr>
            <a:lvl6pPr algn="l">
              <a:defRPr sz="2550" b="1">
                <a:solidFill>
                  <a:srgbClr val="17332D"/>
                </a:solidFill>
              </a:defRPr>
            </a:lvl6pPr>
            <a:lvl7pPr algn="l">
              <a:defRPr sz="2550" b="1">
                <a:solidFill>
                  <a:srgbClr val="17332D"/>
                </a:solidFill>
              </a:defRPr>
            </a:lvl7pPr>
            <a:lvl8pPr algn="l">
              <a:defRPr sz="2550" b="1">
                <a:solidFill>
                  <a:srgbClr val="17332D"/>
                </a:solidFill>
              </a:defRPr>
            </a:lvl8pPr>
            <a:lvl9pPr algn="l">
              <a:defRPr sz="25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32D"/>
                </a:solidFill>
              </a:defRPr>
            </a:pPr>
            <a:r>
              <a:rPr sz="2550" b="1">
                <a:solidFill>
                  <a:srgbClr val="17332D"/>
                </a:solidFill>
              </a:rPr>
              <a:t>Rain skew falls after log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BB7BF-F202-4776-8C36-D50104F2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7DF59-807E-4DD4-A82C-4D02048A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64736C"/>
                </a:solidFill>
              </a:defRPr>
            </a:defPPr>
            <a:lvl1pPr algn="r">
              <a:defRPr sz="900" b="1">
                <a:solidFill>
                  <a:srgbClr val="64736C"/>
                </a:solidFill>
              </a:defRPr>
            </a:lvl1pPr>
            <a:lvl2pPr algn="r">
              <a:defRPr sz="900" b="1">
                <a:solidFill>
                  <a:srgbClr val="64736C"/>
                </a:solidFill>
              </a:defRPr>
            </a:lvl2pPr>
            <a:lvl3pPr algn="r">
              <a:defRPr sz="900" b="1">
                <a:solidFill>
                  <a:srgbClr val="64736C"/>
                </a:solidFill>
              </a:defRPr>
            </a:lvl3pPr>
            <a:lvl4pPr algn="r">
              <a:defRPr sz="900" b="1">
                <a:solidFill>
                  <a:srgbClr val="64736C"/>
                </a:solidFill>
              </a:defRPr>
            </a:lvl4pPr>
            <a:lvl5pPr algn="r">
              <a:defRPr sz="900" b="1">
                <a:solidFill>
                  <a:srgbClr val="64736C"/>
                </a:solidFill>
              </a:defRPr>
            </a:lvl5pPr>
            <a:lvl6pPr algn="r">
              <a:defRPr sz="900" b="1">
                <a:solidFill>
                  <a:srgbClr val="64736C"/>
                </a:solidFill>
              </a:defRPr>
            </a:lvl6pPr>
            <a:lvl7pPr algn="r">
              <a:defRPr sz="900" b="1">
                <a:solidFill>
                  <a:srgbClr val="64736C"/>
                </a:solidFill>
              </a:defRPr>
            </a:lvl7pPr>
            <a:lvl8pPr algn="r">
              <a:defRPr sz="900" b="1">
                <a:solidFill>
                  <a:srgbClr val="64736C"/>
                </a:solidFill>
              </a:defRPr>
            </a:lvl8pPr>
            <a:lvl9pPr algn="r">
              <a:defRPr sz="900" b="1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4736C"/>
                </a:solidFill>
              </a:defRPr>
            </a:pPr>
            <a:r>
              <a:rPr sz="900" b="1">
                <a:solidFill>
                  <a:srgbClr val="64736C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06707-C06F-402D-BF98-83B11080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64736C"/>
                </a:solidFill>
              </a:defRPr>
            </a:defPPr>
            <a:lvl1pPr algn="l">
              <a:defRPr sz="900" b="0">
                <a:solidFill>
                  <a:srgbClr val="64736C"/>
                </a:solidFill>
              </a:defRPr>
            </a:lvl1pPr>
            <a:lvl2pPr algn="l">
              <a:defRPr sz="900" b="0">
                <a:solidFill>
                  <a:srgbClr val="64736C"/>
                </a:solidFill>
              </a:defRPr>
            </a:lvl2pPr>
            <a:lvl3pPr algn="l">
              <a:defRPr sz="900" b="0">
                <a:solidFill>
                  <a:srgbClr val="64736C"/>
                </a:solidFill>
              </a:defRPr>
            </a:lvl3pPr>
            <a:lvl4pPr algn="l">
              <a:defRPr sz="900" b="0">
                <a:solidFill>
                  <a:srgbClr val="64736C"/>
                </a:solidFill>
              </a:defRPr>
            </a:lvl4pPr>
            <a:lvl5pPr algn="l">
              <a:defRPr sz="900" b="0">
                <a:solidFill>
                  <a:srgbClr val="64736C"/>
                </a:solidFill>
              </a:defRPr>
            </a:lvl5pPr>
            <a:lvl6pPr algn="l">
              <a:defRPr sz="900" b="0">
                <a:solidFill>
                  <a:srgbClr val="64736C"/>
                </a:solidFill>
              </a:defRPr>
            </a:lvl6pPr>
            <a:lvl7pPr algn="l">
              <a:defRPr sz="900" b="0">
                <a:solidFill>
                  <a:srgbClr val="64736C"/>
                </a:solidFill>
              </a:defRPr>
            </a:lvl7pPr>
            <a:lvl8pPr algn="l">
              <a:defRPr sz="900" b="0">
                <a:solidFill>
                  <a:srgbClr val="64736C"/>
                </a:solidFill>
              </a:defRPr>
            </a:lvl8pPr>
            <a:lvl9pPr algn="l">
              <a:defRPr sz="90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4736C"/>
                </a:solidFill>
              </a:defRPr>
            </a:pPr>
            <a:r>
              <a:rPr sz="900" b="0">
                <a:solidFill>
                  <a:srgbClr val="64736C"/>
                </a:solidFill>
              </a:rPr>
              <a:t>WeatherBizAnalysis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17DBE3D-1A94-4CA9-AE42-639CCCF1E8C6}"/>
              </a:ext>
            </a:extLst>
          </p:cNvPr>
          <p:cNvGraphicFramePr/>
          <p:nvPr/>
        </p:nvGraphicFramePr>
        <p:xfrm>
          <a:off xmlns:a="http://schemas.openxmlformats.org/drawingml/2006/main" x="809625" y="1562100"/>
          <a:ext xmlns:a="http://schemas.openxmlformats.org/drawingml/2006/main" cx="7334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c9835a3eb7b427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0D22D-F6EB-456D-886C-1C5C99CB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7332D"/>
                </a:solidFill>
              </a:defRPr>
            </a:defPPr>
            <a:lvl1pPr algn="l">
              <a:defRPr sz="1650" b="1">
                <a:solidFill>
                  <a:srgbClr val="17332D"/>
                </a:solidFill>
              </a:defRPr>
            </a:lvl1pPr>
            <a:lvl2pPr algn="l">
              <a:defRPr sz="1650" b="1">
                <a:solidFill>
                  <a:srgbClr val="17332D"/>
                </a:solidFill>
              </a:defRPr>
            </a:lvl2pPr>
            <a:lvl3pPr algn="l">
              <a:defRPr sz="1650" b="1">
                <a:solidFill>
                  <a:srgbClr val="17332D"/>
                </a:solidFill>
              </a:defRPr>
            </a:lvl3pPr>
            <a:lvl4pPr algn="l">
              <a:defRPr sz="1650" b="1">
                <a:solidFill>
                  <a:srgbClr val="17332D"/>
                </a:solidFill>
              </a:defRPr>
            </a:lvl4pPr>
            <a:lvl5pPr algn="l">
              <a:defRPr sz="1650" b="1">
                <a:solidFill>
                  <a:srgbClr val="17332D"/>
                </a:solidFill>
              </a:defRPr>
            </a:lvl5pPr>
            <a:lvl6pPr algn="l">
              <a:defRPr sz="1650" b="1">
                <a:solidFill>
                  <a:srgbClr val="17332D"/>
                </a:solidFill>
              </a:defRPr>
            </a:lvl6pPr>
            <a:lvl7pPr algn="l">
              <a:defRPr sz="1650" b="1">
                <a:solidFill>
                  <a:srgbClr val="17332D"/>
                </a:solidFill>
              </a:defRPr>
            </a:lvl7pPr>
            <a:lvl8pPr algn="l">
              <a:defRPr sz="1650" b="1">
                <a:solidFill>
                  <a:srgbClr val="17332D"/>
                </a:solidFill>
              </a:defRPr>
            </a:lvl8pPr>
            <a:lvl9pPr algn="l">
              <a:defRPr sz="16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332D"/>
                </a:solidFill>
              </a:defRPr>
            </a:pPr>
            <a:r>
              <a:rPr sz="1650" b="1">
                <a:solidFill>
                  <a:srgbClr val="17332D"/>
                </a:solidFill>
              </a:rPr>
              <a:t>Transformation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BB04B-209B-45C8-A9EF-89607AEF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87F71"/>
                </a:solidFill>
              </a:defRPr>
            </a:defPPr>
            <a:lvl1pPr algn="l">
              <a:defRPr sz="1725" b="1">
                <a:solidFill>
                  <a:srgbClr val="087F71"/>
                </a:solidFill>
              </a:defRPr>
            </a:lvl1pPr>
            <a:lvl2pPr algn="l">
              <a:defRPr sz="1725" b="1">
                <a:solidFill>
                  <a:srgbClr val="087F71"/>
                </a:solidFill>
              </a:defRPr>
            </a:lvl2pPr>
            <a:lvl3pPr algn="l">
              <a:defRPr sz="1725" b="1">
                <a:solidFill>
                  <a:srgbClr val="087F71"/>
                </a:solidFill>
              </a:defRPr>
            </a:lvl3pPr>
            <a:lvl4pPr algn="l">
              <a:defRPr sz="1725" b="1">
                <a:solidFill>
                  <a:srgbClr val="087F71"/>
                </a:solidFill>
              </a:defRPr>
            </a:lvl4pPr>
            <a:lvl5pPr algn="l">
              <a:defRPr sz="1725" b="1">
                <a:solidFill>
                  <a:srgbClr val="087F71"/>
                </a:solidFill>
              </a:defRPr>
            </a:lvl5pPr>
            <a:lvl6pPr algn="l">
              <a:defRPr sz="1725" b="1">
                <a:solidFill>
                  <a:srgbClr val="087F71"/>
                </a:solidFill>
              </a:defRPr>
            </a:lvl6pPr>
            <a:lvl7pPr algn="l">
              <a:defRPr sz="1725" b="1">
                <a:solidFill>
                  <a:srgbClr val="087F71"/>
                </a:solidFill>
              </a:defRPr>
            </a:lvl7pPr>
            <a:lvl8pPr algn="l">
              <a:defRPr sz="1725" b="1">
                <a:solidFill>
                  <a:srgbClr val="087F71"/>
                </a:solidFill>
              </a:defRPr>
            </a:lvl8pPr>
            <a:lvl9pPr algn="l">
              <a:defRPr sz="1725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F71"/>
                </a:solidFill>
              </a:defRPr>
            </a:pPr>
            <a:r>
              <a:rPr sz="1725" b="1">
                <a:solidFill>
                  <a:srgbClr val="087F71"/>
                </a:solidFill>
              </a:rPr>
              <a:t>log1p(x) = ln(1 + x)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72E2E-EFB3-4B52-A254-62BC2E81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It keeps zero rainfall defined and compresses rare heavy-rain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CD4C3-DC1F-4672-931D-728F915C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719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7332D"/>
                </a:solidFill>
              </a:defRPr>
            </a:defPPr>
            <a:lvl1pPr algn="l">
              <a:defRPr sz="1350" b="1">
                <a:solidFill>
                  <a:srgbClr val="17332D"/>
                </a:solidFill>
              </a:defRPr>
            </a:lvl1pPr>
            <a:lvl2pPr algn="l">
              <a:defRPr sz="1350" b="1">
                <a:solidFill>
                  <a:srgbClr val="17332D"/>
                </a:solidFill>
              </a:defRPr>
            </a:lvl2pPr>
            <a:lvl3pPr algn="l">
              <a:defRPr sz="1350" b="1">
                <a:solidFill>
                  <a:srgbClr val="17332D"/>
                </a:solidFill>
              </a:defRPr>
            </a:lvl3pPr>
            <a:lvl4pPr algn="l">
              <a:defRPr sz="1350" b="1">
                <a:solidFill>
                  <a:srgbClr val="17332D"/>
                </a:solidFill>
              </a:defRPr>
            </a:lvl4pPr>
            <a:lvl5pPr algn="l">
              <a:defRPr sz="1350" b="1">
                <a:solidFill>
                  <a:srgbClr val="17332D"/>
                </a:solidFill>
              </a:defRPr>
            </a:lvl5pPr>
            <a:lvl6pPr algn="l">
              <a:defRPr sz="1350" b="1">
                <a:solidFill>
                  <a:srgbClr val="17332D"/>
                </a:solidFill>
              </a:defRPr>
            </a:lvl6pPr>
            <a:lvl7pPr algn="l">
              <a:defRPr sz="1350" b="1">
                <a:solidFill>
                  <a:srgbClr val="17332D"/>
                </a:solidFill>
              </a:defRPr>
            </a:lvl7pPr>
            <a:lvl8pPr algn="l">
              <a:defRPr sz="1350" b="1">
                <a:solidFill>
                  <a:srgbClr val="17332D"/>
                </a:solidFill>
              </a:defRPr>
            </a:lvl8pPr>
            <a:lvl9pPr algn="l">
              <a:defRPr sz="13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32D"/>
                </a:solidFill>
              </a:defRPr>
            </a:pPr>
            <a:r>
              <a:rPr sz="1350" b="1">
                <a:solidFill>
                  <a:srgbClr val="17332D"/>
                </a:solidFill>
              </a:rPr>
              <a:t>Interpret the raw millimetre scale alongside the transformed model.</a:t>
            </a:r>
          </a:p>
        </p:txBody>
      </p:sp>
    </p:spTree>
    <p:extLst>
      <p:ext uri="{BB962C8B-B14F-4D97-AF65-F5344CB8AC3E}">
        <p14:creationId xmlns:p14="http://schemas.microsoft.com/office/powerpoint/2010/main" val="1198809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1FE7A-237C-4245-92A5-FB7893DF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1"/>
                </a:solidFill>
              </a:defRPr>
            </a:defPPr>
            <a:lvl1pPr algn="l">
              <a:defRPr sz="900" b="1">
                <a:solidFill>
                  <a:srgbClr val="087F71"/>
                </a:solidFill>
              </a:defRPr>
            </a:lvl1pPr>
            <a:lvl2pPr algn="l">
              <a:defRPr sz="900" b="1">
                <a:solidFill>
                  <a:srgbClr val="087F71"/>
                </a:solidFill>
              </a:defRPr>
            </a:lvl2pPr>
            <a:lvl3pPr algn="l">
              <a:defRPr sz="900" b="1">
                <a:solidFill>
                  <a:srgbClr val="087F71"/>
                </a:solidFill>
              </a:defRPr>
            </a:lvl3pPr>
            <a:lvl4pPr algn="l">
              <a:defRPr sz="900" b="1">
                <a:solidFill>
                  <a:srgbClr val="087F71"/>
                </a:solidFill>
              </a:defRPr>
            </a:lvl4pPr>
            <a:lvl5pPr algn="l">
              <a:defRPr sz="900" b="1">
                <a:solidFill>
                  <a:srgbClr val="087F71"/>
                </a:solidFill>
              </a:defRPr>
            </a:lvl5pPr>
            <a:lvl6pPr algn="l">
              <a:defRPr sz="900" b="1">
                <a:solidFill>
                  <a:srgbClr val="087F71"/>
                </a:solidFill>
              </a:defRPr>
            </a:lvl6pPr>
            <a:lvl7pPr algn="l">
              <a:defRPr sz="900" b="1">
                <a:solidFill>
                  <a:srgbClr val="087F71"/>
                </a:solidFill>
              </a:defRPr>
            </a:lvl7pPr>
            <a:lvl8pPr algn="l">
              <a:defRPr sz="900" b="1">
                <a:solidFill>
                  <a:srgbClr val="087F71"/>
                </a:solidFill>
              </a:defRPr>
            </a:lvl8pPr>
            <a:lvl9pPr algn="l">
              <a:defRPr sz="9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87F71"/>
                </a:solidFill>
              </a:defRPr>
            </a:pPr>
            <a:r>
              <a:rPr sz="900" b="1">
                <a:solidFill>
                  <a:srgbClr val="087F71"/>
                </a:solidFill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07E8C-9C51-4753-BC8B-7D8DF5C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32D"/>
                </a:solidFill>
              </a:defRPr>
            </a:defPPr>
            <a:lvl1pPr algn="l">
              <a:defRPr sz="2550" b="1">
                <a:solidFill>
                  <a:srgbClr val="17332D"/>
                </a:solidFill>
              </a:defRPr>
            </a:lvl1pPr>
            <a:lvl2pPr algn="l">
              <a:defRPr sz="2550" b="1">
                <a:solidFill>
                  <a:srgbClr val="17332D"/>
                </a:solidFill>
              </a:defRPr>
            </a:lvl2pPr>
            <a:lvl3pPr algn="l">
              <a:defRPr sz="2550" b="1">
                <a:solidFill>
                  <a:srgbClr val="17332D"/>
                </a:solidFill>
              </a:defRPr>
            </a:lvl3pPr>
            <a:lvl4pPr algn="l">
              <a:defRPr sz="2550" b="1">
                <a:solidFill>
                  <a:srgbClr val="17332D"/>
                </a:solidFill>
              </a:defRPr>
            </a:lvl4pPr>
            <a:lvl5pPr algn="l">
              <a:defRPr sz="2550" b="1">
                <a:solidFill>
                  <a:srgbClr val="17332D"/>
                </a:solidFill>
              </a:defRPr>
            </a:lvl5pPr>
            <a:lvl6pPr algn="l">
              <a:defRPr sz="2550" b="1">
                <a:solidFill>
                  <a:srgbClr val="17332D"/>
                </a:solidFill>
              </a:defRPr>
            </a:lvl6pPr>
            <a:lvl7pPr algn="l">
              <a:defRPr sz="2550" b="1">
                <a:solidFill>
                  <a:srgbClr val="17332D"/>
                </a:solidFill>
              </a:defRPr>
            </a:lvl7pPr>
            <a:lvl8pPr algn="l">
              <a:defRPr sz="2550" b="1">
                <a:solidFill>
                  <a:srgbClr val="17332D"/>
                </a:solidFill>
              </a:defRPr>
            </a:lvl8pPr>
            <a:lvl9pPr algn="l">
              <a:defRPr sz="25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32D"/>
                </a:solidFill>
              </a:defRPr>
            </a:pPr>
            <a:r>
              <a:rPr sz="2550" b="1">
                <a:solidFill>
                  <a:srgbClr val="17332D"/>
                </a:solidFill>
              </a:rPr>
              <a:t>Only Citi Bike shows a consistent negative rain association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0FED5-59B5-4C7E-B710-E6FD22E6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95BD9-5757-4BBD-85D2-19541A2A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64736C"/>
                </a:solidFill>
              </a:defRPr>
            </a:defPPr>
            <a:lvl1pPr algn="r">
              <a:defRPr sz="900" b="1">
                <a:solidFill>
                  <a:srgbClr val="64736C"/>
                </a:solidFill>
              </a:defRPr>
            </a:lvl1pPr>
            <a:lvl2pPr algn="r">
              <a:defRPr sz="900" b="1">
                <a:solidFill>
                  <a:srgbClr val="64736C"/>
                </a:solidFill>
              </a:defRPr>
            </a:lvl2pPr>
            <a:lvl3pPr algn="r">
              <a:defRPr sz="900" b="1">
                <a:solidFill>
                  <a:srgbClr val="64736C"/>
                </a:solidFill>
              </a:defRPr>
            </a:lvl3pPr>
            <a:lvl4pPr algn="r">
              <a:defRPr sz="900" b="1">
                <a:solidFill>
                  <a:srgbClr val="64736C"/>
                </a:solidFill>
              </a:defRPr>
            </a:lvl4pPr>
            <a:lvl5pPr algn="r">
              <a:defRPr sz="900" b="1">
                <a:solidFill>
                  <a:srgbClr val="64736C"/>
                </a:solidFill>
              </a:defRPr>
            </a:lvl5pPr>
            <a:lvl6pPr algn="r">
              <a:defRPr sz="900" b="1">
                <a:solidFill>
                  <a:srgbClr val="64736C"/>
                </a:solidFill>
              </a:defRPr>
            </a:lvl6pPr>
            <a:lvl7pPr algn="r">
              <a:defRPr sz="900" b="1">
                <a:solidFill>
                  <a:srgbClr val="64736C"/>
                </a:solidFill>
              </a:defRPr>
            </a:lvl7pPr>
            <a:lvl8pPr algn="r">
              <a:defRPr sz="900" b="1">
                <a:solidFill>
                  <a:srgbClr val="64736C"/>
                </a:solidFill>
              </a:defRPr>
            </a:lvl8pPr>
            <a:lvl9pPr algn="r">
              <a:defRPr sz="900" b="1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4736C"/>
                </a:solidFill>
              </a:defRPr>
            </a:pPr>
            <a:r>
              <a:rPr sz="900" b="1">
                <a:solidFill>
                  <a:srgbClr val="64736C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AD4EA-54E2-431F-AEBD-0D4F3C19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64736C"/>
                </a:solidFill>
              </a:defRPr>
            </a:defPPr>
            <a:lvl1pPr algn="l">
              <a:defRPr sz="900" b="0">
                <a:solidFill>
                  <a:srgbClr val="64736C"/>
                </a:solidFill>
              </a:defRPr>
            </a:lvl1pPr>
            <a:lvl2pPr algn="l">
              <a:defRPr sz="900" b="0">
                <a:solidFill>
                  <a:srgbClr val="64736C"/>
                </a:solidFill>
              </a:defRPr>
            </a:lvl2pPr>
            <a:lvl3pPr algn="l">
              <a:defRPr sz="900" b="0">
                <a:solidFill>
                  <a:srgbClr val="64736C"/>
                </a:solidFill>
              </a:defRPr>
            </a:lvl3pPr>
            <a:lvl4pPr algn="l">
              <a:defRPr sz="900" b="0">
                <a:solidFill>
                  <a:srgbClr val="64736C"/>
                </a:solidFill>
              </a:defRPr>
            </a:lvl4pPr>
            <a:lvl5pPr algn="l">
              <a:defRPr sz="900" b="0">
                <a:solidFill>
                  <a:srgbClr val="64736C"/>
                </a:solidFill>
              </a:defRPr>
            </a:lvl5pPr>
            <a:lvl6pPr algn="l">
              <a:defRPr sz="900" b="0">
                <a:solidFill>
                  <a:srgbClr val="64736C"/>
                </a:solidFill>
              </a:defRPr>
            </a:lvl6pPr>
            <a:lvl7pPr algn="l">
              <a:defRPr sz="900" b="0">
                <a:solidFill>
                  <a:srgbClr val="64736C"/>
                </a:solidFill>
              </a:defRPr>
            </a:lvl7pPr>
            <a:lvl8pPr algn="l">
              <a:defRPr sz="900" b="0">
                <a:solidFill>
                  <a:srgbClr val="64736C"/>
                </a:solidFill>
              </a:defRPr>
            </a:lvl8pPr>
            <a:lvl9pPr algn="l">
              <a:defRPr sz="90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4736C"/>
                </a:solidFill>
              </a:defRPr>
            </a:pPr>
            <a:r>
              <a:rPr sz="900" b="0">
                <a:solidFill>
                  <a:srgbClr val="64736C"/>
                </a:solidFill>
              </a:rPr>
              <a:t>WeatherBizAnalysis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A0947E6-E696-4C09-9834-517E22B8C1EF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47712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0faa2ab4ff4f4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72B9A-9C6A-4BE4-91F2-AC81390F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87F71"/>
                </a:solidFill>
              </a:defRPr>
            </a:defPPr>
            <a:lvl1pPr algn="l">
              <a:defRPr sz="1200" b="1">
                <a:solidFill>
                  <a:srgbClr val="087F71"/>
                </a:solidFill>
              </a:defRPr>
            </a:lvl1pPr>
            <a:lvl2pPr algn="l">
              <a:defRPr sz="1200" b="1">
                <a:solidFill>
                  <a:srgbClr val="087F71"/>
                </a:solidFill>
              </a:defRPr>
            </a:lvl2pPr>
            <a:lvl3pPr algn="l">
              <a:defRPr sz="1200" b="1">
                <a:solidFill>
                  <a:srgbClr val="087F71"/>
                </a:solidFill>
              </a:defRPr>
            </a:lvl3pPr>
            <a:lvl4pPr algn="l">
              <a:defRPr sz="1200" b="1">
                <a:solidFill>
                  <a:srgbClr val="087F71"/>
                </a:solidFill>
              </a:defRPr>
            </a:lvl4pPr>
            <a:lvl5pPr algn="l">
              <a:defRPr sz="1200" b="1">
                <a:solidFill>
                  <a:srgbClr val="087F71"/>
                </a:solidFill>
              </a:defRPr>
            </a:lvl5pPr>
            <a:lvl6pPr algn="l">
              <a:defRPr sz="1200" b="1">
                <a:solidFill>
                  <a:srgbClr val="087F71"/>
                </a:solidFill>
              </a:defRPr>
            </a:lvl6pPr>
            <a:lvl7pPr algn="l">
              <a:defRPr sz="1200" b="1">
                <a:solidFill>
                  <a:srgbClr val="087F71"/>
                </a:solidFill>
              </a:defRPr>
            </a:lvl7pPr>
            <a:lvl8pPr algn="l">
              <a:defRPr sz="1200" b="1">
                <a:solidFill>
                  <a:srgbClr val="087F71"/>
                </a:solidFill>
              </a:defRPr>
            </a:lvl8pPr>
            <a:lvl9pPr algn="l">
              <a:defRPr sz="12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F71"/>
                </a:solidFill>
              </a:defRPr>
            </a:pPr>
            <a:r>
              <a:rPr sz="1200" b="1">
                <a:solidFill>
                  <a:srgbClr val="087F71"/>
                </a:solidFill>
              </a:rPr>
              <a:t>Pearson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DE117-9EBA-4E43-811E-0B811B09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55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Linear association using centred products and standard deviations.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951C5-F223-4FAA-8AAF-8BF5C7C9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385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B27637"/>
                </a:solidFill>
              </a:defRPr>
            </a:defPPr>
            <a:lvl1pPr algn="l">
              <a:defRPr sz="1200" b="1">
                <a:solidFill>
                  <a:srgbClr val="B27637"/>
                </a:solidFill>
              </a:defRPr>
            </a:lvl1pPr>
            <a:lvl2pPr algn="l">
              <a:defRPr sz="1200" b="1">
                <a:solidFill>
                  <a:srgbClr val="B27637"/>
                </a:solidFill>
              </a:defRPr>
            </a:lvl2pPr>
            <a:lvl3pPr algn="l">
              <a:defRPr sz="1200" b="1">
                <a:solidFill>
                  <a:srgbClr val="B27637"/>
                </a:solidFill>
              </a:defRPr>
            </a:lvl3pPr>
            <a:lvl4pPr algn="l">
              <a:defRPr sz="1200" b="1">
                <a:solidFill>
                  <a:srgbClr val="B27637"/>
                </a:solidFill>
              </a:defRPr>
            </a:lvl4pPr>
            <a:lvl5pPr algn="l">
              <a:defRPr sz="1200" b="1">
                <a:solidFill>
                  <a:srgbClr val="B27637"/>
                </a:solidFill>
              </a:defRPr>
            </a:lvl5pPr>
            <a:lvl6pPr algn="l">
              <a:defRPr sz="1200" b="1">
                <a:solidFill>
                  <a:srgbClr val="B27637"/>
                </a:solidFill>
              </a:defRPr>
            </a:lvl6pPr>
            <a:lvl7pPr algn="l">
              <a:defRPr sz="1200" b="1">
                <a:solidFill>
                  <a:srgbClr val="B27637"/>
                </a:solidFill>
              </a:defRPr>
            </a:lvl7pPr>
            <a:lvl8pPr algn="l">
              <a:defRPr sz="1200" b="1">
                <a:solidFill>
                  <a:srgbClr val="B27637"/>
                </a:solidFill>
              </a:defRPr>
            </a:lvl8pPr>
            <a:lvl9pPr algn="l">
              <a:defRPr sz="1200" b="1">
                <a:solidFill>
                  <a:srgbClr val="B27637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27637"/>
                </a:solidFill>
              </a:defRPr>
            </a:pPr>
            <a:r>
              <a:rPr sz="1200" b="1">
                <a:solidFill>
                  <a:srgbClr val="B27637"/>
                </a:solidFill>
              </a:rPr>
              <a:t>Spearman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2ECC3-C425-4DA0-AC99-5A7274CC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2552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Pearson correlation applied to ranks. It is less sensitive to non-linear scale and extreme values.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9B34D-7A91-4340-835C-C02BF285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17332D"/>
                </a:solidFill>
              </a:defRPr>
            </a:defPPr>
            <a:lvl1pPr algn="l">
              <a:defRPr sz="1350" b="1">
                <a:solidFill>
                  <a:srgbClr val="17332D"/>
                </a:solidFill>
              </a:defRPr>
            </a:lvl1pPr>
            <a:lvl2pPr algn="l">
              <a:defRPr sz="1350" b="1">
                <a:solidFill>
                  <a:srgbClr val="17332D"/>
                </a:solidFill>
              </a:defRPr>
            </a:lvl2pPr>
            <a:lvl3pPr algn="l">
              <a:defRPr sz="1350" b="1">
                <a:solidFill>
                  <a:srgbClr val="17332D"/>
                </a:solidFill>
              </a:defRPr>
            </a:lvl3pPr>
            <a:lvl4pPr algn="l">
              <a:defRPr sz="1350" b="1">
                <a:solidFill>
                  <a:srgbClr val="17332D"/>
                </a:solidFill>
              </a:defRPr>
            </a:lvl4pPr>
            <a:lvl5pPr algn="l">
              <a:defRPr sz="1350" b="1">
                <a:solidFill>
                  <a:srgbClr val="17332D"/>
                </a:solidFill>
              </a:defRPr>
            </a:lvl5pPr>
            <a:lvl6pPr algn="l">
              <a:defRPr sz="1350" b="1">
                <a:solidFill>
                  <a:srgbClr val="17332D"/>
                </a:solidFill>
              </a:defRPr>
            </a:lvl6pPr>
            <a:lvl7pPr algn="l">
              <a:defRPr sz="1350" b="1">
                <a:solidFill>
                  <a:srgbClr val="17332D"/>
                </a:solidFill>
              </a:defRPr>
            </a:lvl7pPr>
            <a:lvl8pPr algn="l">
              <a:defRPr sz="1350" b="1">
                <a:solidFill>
                  <a:srgbClr val="17332D"/>
                </a:solidFill>
              </a:defRPr>
            </a:lvl8pPr>
            <a:lvl9pPr algn="l">
              <a:defRPr sz="13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332D"/>
                </a:solidFill>
              </a:defRPr>
            </a:pPr>
            <a:r>
              <a:rPr sz="1350" b="1">
                <a:solidFill>
                  <a:srgbClr val="17332D"/>
                </a:solidFill>
              </a:rPr>
              <a:t>Association does not establish causal mode switching.</a:t>
            </a:r>
          </a:p>
        </p:txBody>
      </p:sp>
    </p:spTree>
    <p:extLst>
      <p:ext uri="{BB962C8B-B14F-4D97-AF65-F5344CB8AC3E}">
        <p14:creationId xmlns:p14="http://schemas.microsoft.com/office/powerpoint/2010/main" val="1046126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EF871-9ABD-4229-8875-D3A71537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1"/>
                </a:solidFill>
              </a:defRPr>
            </a:defPPr>
            <a:lvl1pPr algn="l">
              <a:defRPr sz="900" b="1">
                <a:solidFill>
                  <a:srgbClr val="087F71"/>
                </a:solidFill>
              </a:defRPr>
            </a:lvl1pPr>
            <a:lvl2pPr algn="l">
              <a:defRPr sz="900" b="1">
                <a:solidFill>
                  <a:srgbClr val="087F71"/>
                </a:solidFill>
              </a:defRPr>
            </a:lvl2pPr>
            <a:lvl3pPr algn="l">
              <a:defRPr sz="900" b="1">
                <a:solidFill>
                  <a:srgbClr val="087F71"/>
                </a:solidFill>
              </a:defRPr>
            </a:lvl3pPr>
            <a:lvl4pPr algn="l">
              <a:defRPr sz="900" b="1">
                <a:solidFill>
                  <a:srgbClr val="087F71"/>
                </a:solidFill>
              </a:defRPr>
            </a:lvl4pPr>
            <a:lvl5pPr algn="l">
              <a:defRPr sz="900" b="1">
                <a:solidFill>
                  <a:srgbClr val="087F71"/>
                </a:solidFill>
              </a:defRPr>
            </a:lvl5pPr>
            <a:lvl6pPr algn="l">
              <a:defRPr sz="900" b="1">
                <a:solidFill>
                  <a:srgbClr val="087F71"/>
                </a:solidFill>
              </a:defRPr>
            </a:lvl6pPr>
            <a:lvl7pPr algn="l">
              <a:defRPr sz="900" b="1">
                <a:solidFill>
                  <a:srgbClr val="087F71"/>
                </a:solidFill>
              </a:defRPr>
            </a:lvl7pPr>
            <a:lvl8pPr algn="l">
              <a:defRPr sz="900" b="1">
                <a:solidFill>
                  <a:srgbClr val="087F71"/>
                </a:solidFill>
              </a:defRPr>
            </a:lvl8pPr>
            <a:lvl9pPr algn="l">
              <a:defRPr sz="9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87F71"/>
                </a:solidFill>
              </a:defRPr>
            </a:pPr>
            <a:r>
              <a:rPr sz="900" b="1">
                <a:solidFill>
                  <a:srgbClr val="087F71"/>
                </a:solidFill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05870-C76D-450A-B9E3-004A8AF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32D"/>
                </a:solidFill>
              </a:defRPr>
            </a:defPPr>
            <a:lvl1pPr algn="l">
              <a:defRPr sz="2550" b="1">
                <a:solidFill>
                  <a:srgbClr val="17332D"/>
                </a:solidFill>
              </a:defRPr>
            </a:lvl1pPr>
            <a:lvl2pPr algn="l">
              <a:defRPr sz="2550" b="1">
                <a:solidFill>
                  <a:srgbClr val="17332D"/>
                </a:solidFill>
              </a:defRPr>
            </a:lvl2pPr>
            <a:lvl3pPr algn="l">
              <a:defRPr sz="2550" b="1">
                <a:solidFill>
                  <a:srgbClr val="17332D"/>
                </a:solidFill>
              </a:defRPr>
            </a:lvl3pPr>
            <a:lvl4pPr algn="l">
              <a:defRPr sz="2550" b="1">
                <a:solidFill>
                  <a:srgbClr val="17332D"/>
                </a:solidFill>
              </a:defRPr>
            </a:lvl4pPr>
            <a:lvl5pPr algn="l">
              <a:defRPr sz="2550" b="1">
                <a:solidFill>
                  <a:srgbClr val="17332D"/>
                </a:solidFill>
              </a:defRPr>
            </a:lvl5pPr>
            <a:lvl6pPr algn="l">
              <a:defRPr sz="2550" b="1">
                <a:solidFill>
                  <a:srgbClr val="17332D"/>
                </a:solidFill>
              </a:defRPr>
            </a:lvl6pPr>
            <a:lvl7pPr algn="l">
              <a:defRPr sz="2550" b="1">
                <a:solidFill>
                  <a:srgbClr val="17332D"/>
                </a:solidFill>
              </a:defRPr>
            </a:lvl7pPr>
            <a:lvl8pPr algn="l">
              <a:defRPr sz="2550" b="1">
                <a:solidFill>
                  <a:srgbClr val="17332D"/>
                </a:solidFill>
              </a:defRPr>
            </a:lvl8pPr>
            <a:lvl9pPr algn="l">
              <a:defRPr sz="25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32D"/>
                </a:solidFill>
              </a:defRPr>
            </a:pPr>
            <a:r>
              <a:rPr sz="2550" b="1">
                <a:solidFill>
                  <a:srgbClr val="17332D"/>
                </a:solidFill>
              </a:rPr>
              <a:t>Controlled models reveal uneven evidence strength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5798D-76BB-4C50-B140-1956969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E0A8C-D557-45B0-BD40-25473505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64736C"/>
                </a:solidFill>
              </a:defRPr>
            </a:defPPr>
            <a:lvl1pPr algn="r">
              <a:defRPr sz="900" b="1">
                <a:solidFill>
                  <a:srgbClr val="64736C"/>
                </a:solidFill>
              </a:defRPr>
            </a:lvl1pPr>
            <a:lvl2pPr algn="r">
              <a:defRPr sz="900" b="1">
                <a:solidFill>
                  <a:srgbClr val="64736C"/>
                </a:solidFill>
              </a:defRPr>
            </a:lvl2pPr>
            <a:lvl3pPr algn="r">
              <a:defRPr sz="900" b="1">
                <a:solidFill>
                  <a:srgbClr val="64736C"/>
                </a:solidFill>
              </a:defRPr>
            </a:lvl3pPr>
            <a:lvl4pPr algn="r">
              <a:defRPr sz="900" b="1">
                <a:solidFill>
                  <a:srgbClr val="64736C"/>
                </a:solidFill>
              </a:defRPr>
            </a:lvl4pPr>
            <a:lvl5pPr algn="r">
              <a:defRPr sz="900" b="1">
                <a:solidFill>
                  <a:srgbClr val="64736C"/>
                </a:solidFill>
              </a:defRPr>
            </a:lvl5pPr>
            <a:lvl6pPr algn="r">
              <a:defRPr sz="900" b="1">
                <a:solidFill>
                  <a:srgbClr val="64736C"/>
                </a:solidFill>
              </a:defRPr>
            </a:lvl6pPr>
            <a:lvl7pPr algn="r">
              <a:defRPr sz="900" b="1">
                <a:solidFill>
                  <a:srgbClr val="64736C"/>
                </a:solidFill>
              </a:defRPr>
            </a:lvl7pPr>
            <a:lvl8pPr algn="r">
              <a:defRPr sz="900" b="1">
                <a:solidFill>
                  <a:srgbClr val="64736C"/>
                </a:solidFill>
              </a:defRPr>
            </a:lvl8pPr>
            <a:lvl9pPr algn="r">
              <a:defRPr sz="900" b="1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4736C"/>
                </a:solidFill>
              </a:defRPr>
            </a:pPr>
            <a:r>
              <a:rPr sz="900" b="1">
                <a:solidFill>
                  <a:srgbClr val="64736C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2DAD2-A775-4D50-9774-926AA30D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64736C"/>
                </a:solidFill>
              </a:defRPr>
            </a:defPPr>
            <a:lvl1pPr algn="l">
              <a:defRPr sz="900" b="0">
                <a:solidFill>
                  <a:srgbClr val="64736C"/>
                </a:solidFill>
              </a:defRPr>
            </a:lvl1pPr>
            <a:lvl2pPr algn="l">
              <a:defRPr sz="900" b="0">
                <a:solidFill>
                  <a:srgbClr val="64736C"/>
                </a:solidFill>
              </a:defRPr>
            </a:lvl2pPr>
            <a:lvl3pPr algn="l">
              <a:defRPr sz="900" b="0">
                <a:solidFill>
                  <a:srgbClr val="64736C"/>
                </a:solidFill>
              </a:defRPr>
            </a:lvl3pPr>
            <a:lvl4pPr algn="l">
              <a:defRPr sz="900" b="0">
                <a:solidFill>
                  <a:srgbClr val="64736C"/>
                </a:solidFill>
              </a:defRPr>
            </a:lvl4pPr>
            <a:lvl5pPr algn="l">
              <a:defRPr sz="900" b="0">
                <a:solidFill>
                  <a:srgbClr val="64736C"/>
                </a:solidFill>
              </a:defRPr>
            </a:lvl5pPr>
            <a:lvl6pPr algn="l">
              <a:defRPr sz="900" b="0">
                <a:solidFill>
                  <a:srgbClr val="64736C"/>
                </a:solidFill>
              </a:defRPr>
            </a:lvl6pPr>
            <a:lvl7pPr algn="l">
              <a:defRPr sz="900" b="0">
                <a:solidFill>
                  <a:srgbClr val="64736C"/>
                </a:solidFill>
              </a:defRPr>
            </a:lvl7pPr>
            <a:lvl8pPr algn="l">
              <a:defRPr sz="900" b="0">
                <a:solidFill>
                  <a:srgbClr val="64736C"/>
                </a:solidFill>
              </a:defRPr>
            </a:lvl8pPr>
            <a:lvl9pPr algn="l">
              <a:defRPr sz="90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4736C"/>
                </a:solidFill>
              </a:defRPr>
            </a:pPr>
            <a:r>
              <a:rPr sz="900" b="0">
                <a:solidFill>
                  <a:srgbClr val="64736C"/>
                </a:solidFill>
              </a:rPr>
              <a:t>WeatherBizAnalysis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3D8BE-4434-45F8-A5F0-8D8C6FE2D7D5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143125"/>
                <a:gridCol w="2333625"/>
                <a:gridCol w="1285875"/>
                <a:gridCol w="3248025"/>
              </a:tblGrid>
              <a:tr h="5762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 marL="76200" marR="76200" marT="66675" marB="66675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Rain coefficient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95% robust CI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marL="76200" marR="76200" marT="66675" marB="66675" anchor="ctr">
                    <a:lnR w="9525">
                      <a:solidFill>
                        <a:srgbClr val="CAD8D1"/>
                      </a:solidFill>
                      <a:prstDash val="solid"/>
                    </a:lnR>
                    <a:lnT w="9525">
                      <a:solidFill>
                        <a:srgbClr val="CAD8D1"/>
                      </a:solidFill>
                      <a:prstDash val="solid"/>
                    </a:lnT>
                    <a:lnB w="9525">
                      <a:solidFill>
                        <a:srgbClr val="CAD8D1"/>
                      </a:solidFill>
                      <a:prstDash val="solid"/>
                    </a:lnB>
                    <a:solidFill>
                      <a:srgbClr val="17332D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NYC Taxi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+138.83 trips/mm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−139.37 to +417.02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0.328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Direction remains uncertain.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Citi Bike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−35.12 rides/mm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−52.10 to −18.15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&lt;0.001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Negative association in this sample.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Online retail</a:t>
                      </a:r>
                    </a:p>
                  </a:txBody>
                  <a:tcPr marL="76200" marR="76200" marT="57150" marB="57150" anchor="ctr">
                    <a:lnL w="9525">
                      <a:solidFill>
                        <a:srgbClr val="CAD8D1"/>
                      </a:solidFill>
                      <a:prstDash val="solid"/>
                    </a:lnL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+0.506 orders/mm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−0.135 to +1.147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0.122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7332D"/>
                          </a:solidFill>
                        </a:rPr>
                        <a:t>Proxy evidence does not support an effect.</a:t>
                      </a:r>
                    </a:p>
                  </a:txBody>
                  <a:tcPr marL="76200" marR="76200" marT="57150" marB="57150" anchor="ctr">
                    <a:lnR w="9525">
                      <a:solidFill>
                        <a:srgbClr val="CAD8D1"/>
                      </a:solidFill>
                      <a:prstDash val="solid"/>
                    </a:lnR>
                    <a:lnB w="9525">
                      <a:solidFill>
                        <a:srgbClr val="CAD8D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BB3C1-5CB7-442D-8905-C9E6EEFB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332D"/>
                </a:solidFill>
              </a:defRPr>
            </a:defPPr>
            <a:lvl1pPr algn="l">
              <a:defRPr sz="1500" b="1">
                <a:solidFill>
                  <a:srgbClr val="17332D"/>
                </a:solidFill>
              </a:defRPr>
            </a:lvl1pPr>
            <a:lvl2pPr algn="l">
              <a:defRPr sz="1500" b="1">
                <a:solidFill>
                  <a:srgbClr val="17332D"/>
                </a:solidFill>
              </a:defRPr>
            </a:lvl2pPr>
            <a:lvl3pPr algn="l">
              <a:defRPr sz="1500" b="1">
                <a:solidFill>
                  <a:srgbClr val="17332D"/>
                </a:solidFill>
              </a:defRPr>
            </a:lvl3pPr>
            <a:lvl4pPr algn="l">
              <a:defRPr sz="1500" b="1">
                <a:solidFill>
                  <a:srgbClr val="17332D"/>
                </a:solidFill>
              </a:defRPr>
            </a:lvl4pPr>
            <a:lvl5pPr algn="l">
              <a:defRPr sz="1500" b="1">
                <a:solidFill>
                  <a:srgbClr val="17332D"/>
                </a:solidFill>
              </a:defRPr>
            </a:lvl5pPr>
            <a:lvl6pPr algn="l">
              <a:defRPr sz="1500" b="1">
                <a:solidFill>
                  <a:srgbClr val="17332D"/>
                </a:solidFill>
              </a:defRPr>
            </a:lvl6pPr>
            <a:lvl7pPr algn="l">
              <a:defRPr sz="1500" b="1">
                <a:solidFill>
                  <a:srgbClr val="17332D"/>
                </a:solidFill>
              </a:defRPr>
            </a:lvl7pPr>
            <a:lvl8pPr algn="l">
              <a:defRPr sz="1500" b="1">
                <a:solidFill>
                  <a:srgbClr val="17332D"/>
                </a:solidFill>
              </a:defRPr>
            </a:lvl8pPr>
            <a:lvl9pPr algn="l">
              <a:defRPr sz="150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32D"/>
                </a:solidFill>
              </a:defRPr>
            </a:pPr>
            <a:r>
              <a:rPr sz="1500" b="1">
                <a:solidFill>
                  <a:srgbClr val="17332D"/>
                </a:solidFill>
              </a:rPr>
              <a:t>Chronological holdout MAE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94AB1636-A642-44CC-AFC0-850BB30E421F}"/>
              </a:ext>
            </a:extLst>
          </p:cNvPr>
          <p:cNvGraphicFramePr/>
          <p:nvPr/>
        </p:nvGraphicFramePr>
        <p:xfrm>
          <a:off xmlns:a="http://schemas.openxmlformats.org/drawingml/2006/main" x="685800" y="4524375"/>
          <a:ext xmlns:a="http://schemas.openxmlformats.org/drawingml/2006/main" cx="6858000" cy="1428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1b28847e814bb3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07F44-E6C3-4DEA-9E99-6C63DAF3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7332D"/>
                </a:solidFill>
              </a:defRPr>
            </a:defPPr>
            <a:lvl1pPr algn="l">
              <a:defRPr sz="1500" b="1">
                <a:solidFill>
                  <a:srgbClr val="17332D"/>
                </a:solidFill>
              </a:defRPr>
            </a:lvl1pPr>
            <a:lvl2pPr algn="l">
              <a:defRPr sz="1500" b="1">
                <a:solidFill>
                  <a:srgbClr val="17332D"/>
                </a:solidFill>
              </a:defRPr>
            </a:lvl2pPr>
            <a:lvl3pPr algn="l">
              <a:defRPr sz="1500" b="1">
                <a:solidFill>
                  <a:srgbClr val="17332D"/>
                </a:solidFill>
              </a:defRPr>
            </a:lvl3pPr>
            <a:lvl4pPr algn="l">
              <a:defRPr sz="1500" b="1">
                <a:solidFill>
                  <a:srgbClr val="17332D"/>
                </a:solidFill>
              </a:defRPr>
            </a:lvl4pPr>
            <a:lvl5pPr algn="l">
              <a:defRPr sz="1500" b="1">
                <a:solidFill>
                  <a:srgbClr val="17332D"/>
                </a:solidFill>
              </a:defRPr>
            </a:lvl5pPr>
            <a:lvl6pPr algn="l">
              <a:defRPr sz="1500" b="1">
                <a:solidFill>
                  <a:srgbClr val="17332D"/>
                </a:solidFill>
              </a:defRPr>
            </a:lvl6pPr>
            <a:lvl7pPr algn="l">
              <a:defRPr sz="1500" b="1">
                <a:solidFill>
                  <a:srgbClr val="17332D"/>
                </a:solidFill>
              </a:defRPr>
            </a:lvl7pPr>
            <a:lvl8pPr algn="l">
              <a:defRPr sz="1500" b="1">
                <a:solidFill>
                  <a:srgbClr val="17332D"/>
                </a:solidFill>
              </a:defRPr>
            </a:lvl8pPr>
            <a:lvl9pPr algn="l">
              <a:defRPr sz="150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332D"/>
                </a:solidFill>
              </a:defRPr>
            </a:pPr>
            <a:r>
              <a:rPr sz="1500" b="1">
                <a:solidFill>
                  <a:srgbClr val="17332D"/>
                </a:solidFill>
              </a:rPr>
              <a:t>Diagnostics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51D10-F5D1-41D8-9A67-23EFA5A1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72025"/>
            <a:ext cx="3143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36C"/>
                </a:solidFill>
              </a:defRPr>
            </a:defPPr>
            <a:lvl1pPr algn="l">
              <a:defRPr sz="1275" b="0">
                <a:solidFill>
                  <a:srgbClr val="64736C"/>
                </a:solidFill>
              </a:defRPr>
            </a:lvl1pPr>
            <a:lvl2pPr algn="l">
              <a:defRPr sz="1275" b="0">
                <a:solidFill>
                  <a:srgbClr val="64736C"/>
                </a:solidFill>
              </a:defRPr>
            </a:lvl2pPr>
            <a:lvl3pPr algn="l">
              <a:defRPr sz="1275" b="0">
                <a:solidFill>
                  <a:srgbClr val="64736C"/>
                </a:solidFill>
              </a:defRPr>
            </a:lvl3pPr>
            <a:lvl4pPr algn="l">
              <a:defRPr sz="1275" b="0">
                <a:solidFill>
                  <a:srgbClr val="64736C"/>
                </a:solidFill>
              </a:defRPr>
            </a:lvl4pPr>
            <a:lvl5pPr algn="l">
              <a:defRPr sz="1275" b="0">
                <a:solidFill>
                  <a:srgbClr val="64736C"/>
                </a:solidFill>
              </a:defRPr>
            </a:lvl5pPr>
            <a:lvl6pPr algn="l">
              <a:defRPr sz="1275" b="0">
                <a:solidFill>
                  <a:srgbClr val="64736C"/>
                </a:solidFill>
              </a:defRPr>
            </a:lvl6pPr>
            <a:lvl7pPr algn="l">
              <a:defRPr sz="1275" b="0">
                <a:solidFill>
                  <a:srgbClr val="64736C"/>
                </a:solidFill>
              </a:defRPr>
            </a:lvl7pPr>
            <a:lvl8pPr algn="l">
              <a:defRPr sz="1275" b="0">
                <a:solidFill>
                  <a:srgbClr val="64736C"/>
                </a:solidFill>
              </a:defRPr>
            </a:lvl8pPr>
            <a:lvl9pPr algn="l">
              <a:defRPr sz="1275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4736C"/>
                </a:solidFill>
              </a:defRPr>
            </a:pPr>
            <a:r>
              <a:rPr sz="1275" b="0">
                <a:solidFill>
                  <a:srgbClr val="64736C"/>
                </a:solidFill>
              </a:rPr>
              <a:t>HC3 intervals address heteroskedasticity. Durbin–Watson and Breusch–Pagan results stay visible. The holdout keeps the final 20% of time periods out of fitting.</a:t>
            </a:r>
          </a:p>
        </p:txBody>
      </p:sp>
    </p:spTree>
    <p:extLst>
      <p:ext uri="{BB962C8B-B14F-4D97-AF65-F5344CB8AC3E}">
        <p14:creationId xmlns:p14="http://schemas.microsoft.com/office/powerpoint/2010/main" val="310211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F2202-EA79-47E0-AFB4-CE788168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1"/>
                </a:solidFill>
              </a:defRPr>
            </a:defPPr>
            <a:lvl1pPr algn="l">
              <a:defRPr sz="900" b="1">
                <a:solidFill>
                  <a:srgbClr val="087F71"/>
                </a:solidFill>
              </a:defRPr>
            </a:lvl1pPr>
            <a:lvl2pPr algn="l">
              <a:defRPr sz="900" b="1">
                <a:solidFill>
                  <a:srgbClr val="087F71"/>
                </a:solidFill>
              </a:defRPr>
            </a:lvl2pPr>
            <a:lvl3pPr algn="l">
              <a:defRPr sz="900" b="1">
                <a:solidFill>
                  <a:srgbClr val="087F71"/>
                </a:solidFill>
              </a:defRPr>
            </a:lvl3pPr>
            <a:lvl4pPr algn="l">
              <a:defRPr sz="900" b="1">
                <a:solidFill>
                  <a:srgbClr val="087F71"/>
                </a:solidFill>
              </a:defRPr>
            </a:lvl4pPr>
            <a:lvl5pPr algn="l">
              <a:defRPr sz="900" b="1">
                <a:solidFill>
                  <a:srgbClr val="087F71"/>
                </a:solidFill>
              </a:defRPr>
            </a:lvl5pPr>
            <a:lvl6pPr algn="l">
              <a:defRPr sz="900" b="1">
                <a:solidFill>
                  <a:srgbClr val="087F71"/>
                </a:solidFill>
              </a:defRPr>
            </a:lvl6pPr>
            <a:lvl7pPr algn="l">
              <a:defRPr sz="900" b="1">
                <a:solidFill>
                  <a:srgbClr val="087F71"/>
                </a:solidFill>
              </a:defRPr>
            </a:lvl7pPr>
            <a:lvl8pPr algn="l">
              <a:defRPr sz="900" b="1">
                <a:solidFill>
                  <a:srgbClr val="087F71"/>
                </a:solidFill>
              </a:defRPr>
            </a:lvl8pPr>
            <a:lvl9pPr algn="l">
              <a:defRPr sz="9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87F71"/>
                </a:solidFill>
              </a:defRPr>
            </a:pPr>
            <a:r>
              <a:rPr sz="900" b="1">
                <a:solidFill>
                  <a:srgbClr val="087F71"/>
                </a:solidFill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2764F-4E92-4BD4-88BF-35D0F311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32D"/>
                </a:solidFill>
              </a:defRPr>
            </a:defPPr>
            <a:lvl1pPr algn="l">
              <a:defRPr sz="2550" b="1">
                <a:solidFill>
                  <a:srgbClr val="17332D"/>
                </a:solidFill>
              </a:defRPr>
            </a:lvl1pPr>
            <a:lvl2pPr algn="l">
              <a:defRPr sz="2550" b="1">
                <a:solidFill>
                  <a:srgbClr val="17332D"/>
                </a:solidFill>
              </a:defRPr>
            </a:lvl2pPr>
            <a:lvl3pPr algn="l">
              <a:defRPr sz="2550" b="1">
                <a:solidFill>
                  <a:srgbClr val="17332D"/>
                </a:solidFill>
              </a:defRPr>
            </a:lvl3pPr>
            <a:lvl4pPr algn="l">
              <a:defRPr sz="2550" b="1">
                <a:solidFill>
                  <a:srgbClr val="17332D"/>
                </a:solidFill>
              </a:defRPr>
            </a:lvl4pPr>
            <a:lvl5pPr algn="l">
              <a:defRPr sz="2550" b="1">
                <a:solidFill>
                  <a:srgbClr val="17332D"/>
                </a:solidFill>
              </a:defRPr>
            </a:lvl5pPr>
            <a:lvl6pPr algn="l">
              <a:defRPr sz="2550" b="1">
                <a:solidFill>
                  <a:srgbClr val="17332D"/>
                </a:solidFill>
              </a:defRPr>
            </a:lvl6pPr>
            <a:lvl7pPr algn="l">
              <a:defRPr sz="2550" b="1">
                <a:solidFill>
                  <a:srgbClr val="17332D"/>
                </a:solidFill>
              </a:defRPr>
            </a:lvl7pPr>
            <a:lvl8pPr algn="l">
              <a:defRPr sz="2550" b="1">
                <a:solidFill>
                  <a:srgbClr val="17332D"/>
                </a:solidFill>
              </a:defRPr>
            </a:lvl8pPr>
            <a:lvl9pPr algn="l">
              <a:defRPr sz="25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32D"/>
                </a:solidFill>
              </a:defRPr>
            </a:pPr>
            <a:r>
              <a:rPr sz="2550" b="1">
                <a:solidFill>
                  <a:srgbClr val="17332D"/>
                </a:solidFill>
              </a:rPr>
              <a:t>The notebook and website now share one analysis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6F463-4BA3-442E-9001-E2D88520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7F4EA-A256-4D34-84AD-C058B7FE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64736C"/>
                </a:solidFill>
              </a:defRPr>
            </a:defPPr>
            <a:lvl1pPr algn="r">
              <a:defRPr sz="900" b="1">
                <a:solidFill>
                  <a:srgbClr val="64736C"/>
                </a:solidFill>
              </a:defRPr>
            </a:lvl1pPr>
            <a:lvl2pPr algn="r">
              <a:defRPr sz="900" b="1">
                <a:solidFill>
                  <a:srgbClr val="64736C"/>
                </a:solidFill>
              </a:defRPr>
            </a:lvl2pPr>
            <a:lvl3pPr algn="r">
              <a:defRPr sz="900" b="1">
                <a:solidFill>
                  <a:srgbClr val="64736C"/>
                </a:solidFill>
              </a:defRPr>
            </a:lvl3pPr>
            <a:lvl4pPr algn="r">
              <a:defRPr sz="900" b="1">
                <a:solidFill>
                  <a:srgbClr val="64736C"/>
                </a:solidFill>
              </a:defRPr>
            </a:lvl4pPr>
            <a:lvl5pPr algn="r">
              <a:defRPr sz="900" b="1">
                <a:solidFill>
                  <a:srgbClr val="64736C"/>
                </a:solidFill>
              </a:defRPr>
            </a:lvl5pPr>
            <a:lvl6pPr algn="r">
              <a:defRPr sz="900" b="1">
                <a:solidFill>
                  <a:srgbClr val="64736C"/>
                </a:solidFill>
              </a:defRPr>
            </a:lvl6pPr>
            <a:lvl7pPr algn="r">
              <a:defRPr sz="900" b="1">
                <a:solidFill>
                  <a:srgbClr val="64736C"/>
                </a:solidFill>
              </a:defRPr>
            </a:lvl7pPr>
            <a:lvl8pPr algn="r">
              <a:defRPr sz="900" b="1">
                <a:solidFill>
                  <a:srgbClr val="64736C"/>
                </a:solidFill>
              </a:defRPr>
            </a:lvl8pPr>
            <a:lvl9pPr algn="r">
              <a:defRPr sz="900" b="1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4736C"/>
                </a:solidFill>
              </a:defRPr>
            </a:pPr>
            <a:r>
              <a:rPr sz="900" b="1">
                <a:solidFill>
                  <a:srgbClr val="64736C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3E546-FCA5-49E7-B791-2B526EA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64736C"/>
                </a:solidFill>
              </a:defRPr>
            </a:defPPr>
            <a:lvl1pPr algn="l">
              <a:defRPr sz="900" b="0">
                <a:solidFill>
                  <a:srgbClr val="64736C"/>
                </a:solidFill>
              </a:defRPr>
            </a:lvl1pPr>
            <a:lvl2pPr algn="l">
              <a:defRPr sz="900" b="0">
                <a:solidFill>
                  <a:srgbClr val="64736C"/>
                </a:solidFill>
              </a:defRPr>
            </a:lvl2pPr>
            <a:lvl3pPr algn="l">
              <a:defRPr sz="900" b="0">
                <a:solidFill>
                  <a:srgbClr val="64736C"/>
                </a:solidFill>
              </a:defRPr>
            </a:lvl3pPr>
            <a:lvl4pPr algn="l">
              <a:defRPr sz="900" b="0">
                <a:solidFill>
                  <a:srgbClr val="64736C"/>
                </a:solidFill>
              </a:defRPr>
            </a:lvl4pPr>
            <a:lvl5pPr algn="l">
              <a:defRPr sz="900" b="0">
                <a:solidFill>
                  <a:srgbClr val="64736C"/>
                </a:solidFill>
              </a:defRPr>
            </a:lvl5pPr>
            <a:lvl6pPr algn="l">
              <a:defRPr sz="900" b="0">
                <a:solidFill>
                  <a:srgbClr val="64736C"/>
                </a:solidFill>
              </a:defRPr>
            </a:lvl6pPr>
            <a:lvl7pPr algn="l">
              <a:defRPr sz="900" b="0">
                <a:solidFill>
                  <a:srgbClr val="64736C"/>
                </a:solidFill>
              </a:defRPr>
            </a:lvl7pPr>
            <a:lvl8pPr algn="l">
              <a:defRPr sz="900" b="0">
                <a:solidFill>
                  <a:srgbClr val="64736C"/>
                </a:solidFill>
              </a:defRPr>
            </a:lvl8pPr>
            <a:lvl9pPr algn="l">
              <a:defRPr sz="90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4736C"/>
                </a:solidFill>
              </a:defRPr>
            </a:pPr>
            <a:r>
              <a:rPr sz="900" b="0">
                <a:solidFill>
                  <a:srgbClr val="64736C"/>
                </a:solidFill>
              </a:rPr>
              <a:t>WeatherBizAnalysis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161BE-3CCD-4B2F-8983-F2599BF7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087F71"/>
                </a:solidFill>
              </a:defRPr>
            </a:defPPr>
            <a:lvl1pPr algn="l">
              <a:defRPr sz="1200" b="1">
                <a:solidFill>
                  <a:srgbClr val="087F71"/>
                </a:solidFill>
              </a:defRPr>
            </a:lvl1pPr>
            <a:lvl2pPr algn="l">
              <a:defRPr sz="1200" b="1">
                <a:solidFill>
                  <a:srgbClr val="087F71"/>
                </a:solidFill>
              </a:defRPr>
            </a:lvl2pPr>
            <a:lvl3pPr algn="l">
              <a:defRPr sz="1200" b="1">
                <a:solidFill>
                  <a:srgbClr val="087F71"/>
                </a:solidFill>
              </a:defRPr>
            </a:lvl3pPr>
            <a:lvl4pPr algn="l">
              <a:defRPr sz="1200" b="1">
                <a:solidFill>
                  <a:srgbClr val="087F71"/>
                </a:solidFill>
              </a:defRPr>
            </a:lvl4pPr>
            <a:lvl5pPr algn="l">
              <a:defRPr sz="1200" b="1">
                <a:solidFill>
                  <a:srgbClr val="087F71"/>
                </a:solidFill>
              </a:defRPr>
            </a:lvl5pPr>
            <a:lvl6pPr algn="l">
              <a:defRPr sz="1200" b="1">
                <a:solidFill>
                  <a:srgbClr val="087F71"/>
                </a:solidFill>
              </a:defRPr>
            </a:lvl6pPr>
            <a:lvl7pPr algn="l">
              <a:defRPr sz="1200" b="1">
                <a:solidFill>
                  <a:srgbClr val="087F71"/>
                </a:solidFill>
              </a:defRPr>
            </a:lvl7pPr>
            <a:lvl8pPr algn="l">
              <a:defRPr sz="1200" b="1">
                <a:solidFill>
                  <a:srgbClr val="087F71"/>
                </a:solidFill>
              </a:defRPr>
            </a:lvl8pPr>
            <a:lvl9pPr algn="l">
              <a:defRPr sz="12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F71"/>
                </a:solidFill>
              </a:defRPr>
            </a:pPr>
            <a:r>
              <a:rPr sz="1200" b="1">
                <a:solidFill>
                  <a:srgbClr val="087F71"/>
                </a:solidFill>
              </a:rPr>
              <a:t>OBSERVED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4E1B7-1363-4426-87DC-BBD4F9C7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32D"/>
                </a:solidFill>
              </a:defRPr>
            </a:defPPr>
            <a:lvl1pPr algn="l">
              <a:defRPr sz="1425" b="0">
                <a:solidFill>
                  <a:srgbClr val="17332D"/>
                </a:solidFill>
              </a:defRPr>
            </a:lvl1pPr>
            <a:lvl2pPr algn="l">
              <a:defRPr sz="1425" b="0">
                <a:solidFill>
                  <a:srgbClr val="17332D"/>
                </a:solidFill>
              </a:defRPr>
            </a:lvl2pPr>
            <a:lvl3pPr algn="l">
              <a:defRPr sz="1425" b="0">
                <a:solidFill>
                  <a:srgbClr val="17332D"/>
                </a:solidFill>
              </a:defRPr>
            </a:lvl3pPr>
            <a:lvl4pPr algn="l">
              <a:defRPr sz="1425" b="0">
                <a:solidFill>
                  <a:srgbClr val="17332D"/>
                </a:solidFill>
              </a:defRPr>
            </a:lvl4pPr>
            <a:lvl5pPr algn="l">
              <a:defRPr sz="1425" b="0">
                <a:solidFill>
                  <a:srgbClr val="17332D"/>
                </a:solidFill>
              </a:defRPr>
            </a:lvl5pPr>
            <a:lvl6pPr algn="l">
              <a:defRPr sz="1425" b="0">
                <a:solidFill>
                  <a:srgbClr val="17332D"/>
                </a:solidFill>
              </a:defRPr>
            </a:lvl6pPr>
            <a:lvl7pPr algn="l">
              <a:defRPr sz="1425" b="0">
                <a:solidFill>
                  <a:srgbClr val="17332D"/>
                </a:solidFill>
              </a:defRPr>
            </a:lvl7pPr>
            <a:lvl8pPr algn="l">
              <a:defRPr sz="1425" b="0">
                <a:solidFill>
                  <a:srgbClr val="17332D"/>
                </a:solidFill>
              </a:defRPr>
            </a:lvl8pPr>
            <a:lvl9pPr algn="l">
              <a:defRPr sz="1425" b="0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332D"/>
                </a:solidFill>
              </a:defRPr>
            </a:pPr>
            <a:r>
              <a:rPr sz="1425" b="0">
                <a:solidFill>
                  <a:srgbClr val="17332D"/>
                </a:solidFill>
              </a:rPr>
              <a:t>Raw trip, ride, order, revenue, and matched weather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91075-F19D-440F-B270-6CC94D4D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B27637"/>
                </a:solidFill>
              </a:defRPr>
            </a:defPPr>
            <a:lvl1pPr algn="l">
              <a:defRPr sz="1200" b="1">
                <a:solidFill>
                  <a:srgbClr val="B27637"/>
                </a:solidFill>
              </a:defRPr>
            </a:lvl1pPr>
            <a:lvl2pPr algn="l">
              <a:defRPr sz="1200" b="1">
                <a:solidFill>
                  <a:srgbClr val="B27637"/>
                </a:solidFill>
              </a:defRPr>
            </a:lvl2pPr>
            <a:lvl3pPr algn="l">
              <a:defRPr sz="1200" b="1">
                <a:solidFill>
                  <a:srgbClr val="B27637"/>
                </a:solidFill>
              </a:defRPr>
            </a:lvl3pPr>
            <a:lvl4pPr algn="l">
              <a:defRPr sz="1200" b="1">
                <a:solidFill>
                  <a:srgbClr val="B27637"/>
                </a:solidFill>
              </a:defRPr>
            </a:lvl4pPr>
            <a:lvl5pPr algn="l">
              <a:defRPr sz="1200" b="1">
                <a:solidFill>
                  <a:srgbClr val="B27637"/>
                </a:solidFill>
              </a:defRPr>
            </a:lvl5pPr>
            <a:lvl6pPr algn="l">
              <a:defRPr sz="1200" b="1">
                <a:solidFill>
                  <a:srgbClr val="B27637"/>
                </a:solidFill>
              </a:defRPr>
            </a:lvl6pPr>
            <a:lvl7pPr algn="l">
              <a:defRPr sz="1200" b="1">
                <a:solidFill>
                  <a:srgbClr val="B27637"/>
                </a:solidFill>
              </a:defRPr>
            </a:lvl7pPr>
            <a:lvl8pPr algn="l">
              <a:defRPr sz="1200" b="1">
                <a:solidFill>
                  <a:srgbClr val="B27637"/>
                </a:solidFill>
              </a:defRPr>
            </a:lvl8pPr>
            <a:lvl9pPr algn="l">
              <a:defRPr sz="1200" b="1">
                <a:solidFill>
                  <a:srgbClr val="B27637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B27637"/>
                </a:solidFill>
              </a:defRPr>
            </a:pPr>
            <a:r>
              <a:rPr sz="1200" b="1">
                <a:solidFill>
                  <a:srgbClr val="B27637"/>
                </a:solidFill>
              </a:rPr>
              <a:t>MODELLED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B5EAD-1D42-4BCB-88CF-1568101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2190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32D"/>
                </a:solidFill>
              </a:defRPr>
            </a:defPPr>
            <a:lvl1pPr algn="l">
              <a:defRPr sz="1425" b="0">
                <a:solidFill>
                  <a:srgbClr val="17332D"/>
                </a:solidFill>
              </a:defRPr>
            </a:lvl1pPr>
            <a:lvl2pPr algn="l">
              <a:defRPr sz="1425" b="0">
                <a:solidFill>
                  <a:srgbClr val="17332D"/>
                </a:solidFill>
              </a:defRPr>
            </a:lvl2pPr>
            <a:lvl3pPr algn="l">
              <a:defRPr sz="1425" b="0">
                <a:solidFill>
                  <a:srgbClr val="17332D"/>
                </a:solidFill>
              </a:defRPr>
            </a:lvl3pPr>
            <a:lvl4pPr algn="l">
              <a:defRPr sz="1425" b="0">
                <a:solidFill>
                  <a:srgbClr val="17332D"/>
                </a:solidFill>
              </a:defRPr>
            </a:lvl4pPr>
            <a:lvl5pPr algn="l">
              <a:defRPr sz="1425" b="0">
                <a:solidFill>
                  <a:srgbClr val="17332D"/>
                </a:solidFill>
              </a:defRPr>
            </a:lvl5pPr>
            <a:lvl6pPr algn="l">
              <a:defRPr sz="1425" b="0">
                <a:solidFill>
                  <a:srgbClr val="17332D"/>
                </a:solidFill>
              </a:defRPr>
            </a:lvl6pPr>
            <a:lvl7pPr algn="l">
              <a:defRPr sz="1425" b="0">
                <a:solidFill>
                  <a:srgbClr val="17332D"/>
                </a:solidFill>
              </a:defRPr>
            </a:lvl7pPr>
            <a:lvl8pPr algn="l">
              <a:defRPr sz="1425" b="0">
                <a:solidFill>
                  <a:srgbClr val="17332D"/>
                </a:solidFill>
              </a:defRPr>
            </a:lvl8pPr>
            <a:lvl9pPr algn="l">
              <a:defRPr sz="1425" b="0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332D"/>
                </a:solidFill>
              </a:defRPr>
            </a:pPr>
            <a:r>
              <a:rPr sz="1425" b="0">
                <a:solidFill>
                  <a:srgbClr val="17332D"/>
                </a:solidFill>
              </a:rPr>
              <a:t>Correlations, controlled OLS, robust intervals, diagnostics, and holdout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D59D4-AD28-4BD7-A2E6-294EF3CE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62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A84E43"/>
                </a:solidFill>
              </a:defRPr>
            </a:defPPr>
            <a:lvl1pPr algn="l">
              <a:defRPr sz="1200" b="1">
                <a:solidFill>
                  <a:srgbClr val="A84E43"/>
                </a:solidFill>
              </a:defRPr>
            </a:lvl1pPr>
            <a:lvl2pPr algn="l">
              <a:defRPr sz="1200" b="1">
                <a:solidFill>
                  <a:srgbClr val="A84E43"/>
                </a:solidFill>
              </a:defRPr>
            </a:lvl2pPr>
            <a:lvl3pPr algn="l">
              <a:defRPr sz="1200" b="1">
                <a:solidFill>
                  <a:srgbClr val="A84E43"/>
                </a:solidFill>
              </a:defRPr>
            </a:lvl3pPr>
            <a:lvl4pPr algn="l">
              <a:defRPr sz="1200" b="1">
                <a:solidFill>
                  <a:srgbClr val="A84E43"/>
                </a:solidFill>
              </a:defRPr>
            </a:lvl4pPr>
            <a:lvl5pPr algn="l">
              <a:defRPr sz="1200" b="1">
                <a:solidFill>
                  <a:srgbClr val="A84E43"/>
                </a:solidFill>
              </a:defRPr>
            </a:lvl5pPr>
            <a:lvl6pPr algn="l">
              <a:defRPr sz="1200" b="1">
                <a:solidFill>
                  <a:srgbClr val="A84E43"/>
                </a:solidFill>
              </a:defRPr>
            </a:lvl6pPr>
            <a:lvl7pPr algn="l">
              <a:defRPr sz="1200" b="1">
                <a:solidFill>
                  <a:srgbClr val="A84E43"/>
                </a:solidFill>
              </a:defRPr>
            </a:lvl7pPr>
            <a:lvl8pPr algn="l">
              <a:defRPr sz="1200" b="1">
                <a:solidFill>
                  <a:srgbClr val="A84E43"/>
                </a:solidFill>
              </a:defRPr>
            </a:lvl8pPr>
            <a:lvl9pPr algn="l">
              <a:defRPr sz="1200" b="1">
                <a:solidFill>
                  <a:srgbClr val="A84E43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84E43"/>
                </a:solidFill>
              </a:defRPr>
            </a:pPr>
            <a:r>
              <a:rPr sz="1200" b="1">
                <a:solidFill>
                  <a:srgbClr val="A84E43"/>
                </a:solidFill>
              </a:rPr>
              <a:t>ESTIMATED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FA7A4-E541-4287-B30C-6161BD28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32D"/>
                </a:solidFill>
              </a:defRPr>
            </a:defPPr>
            <a:lvl1pPr algn="l">
              <a:defRPr sz="1425" b="0">
                <a:solidFill>
                  <a:srgbClr val="17332D"/>
                </a:solidFill>
              </a:defRPr>
            </a:lvl1pPr>
            <a:lvl2pPr algn="l">
              <a:defRPr sz="1425" b="0">
                <a:solidFill>
                  <a:srgbClr val="17332D"/>
                </a:solidFill>
              </a:defRPr>
            </a:lvl2pPr>
            <a:lvl3pPr algn="l">
              <a:defRPr sz="1425" b="0">
                <a:solidFill>
                  <a:srgbClr val="17332D"/>
                </a:solidFill>
              </a:defRPr>
            </a:lvl3pPr>
            <a:lvl4pPr algn="l">
              <a:defRPr sz="1425" b="0">
                <a:solidFill>
                  <a:srgbClr val="17332D"/>
                </a:solidFill>
              </a:defRPr>
            </a:lvl4pPr>
            <a:lvl5pPr algn="l">
              <a:defRPr sz="1425" b="0">
                <a:solidFill>
                  <a:srgbClr val="17332D"/>
                </a:solidFill>
              </a:defRPr>
            </a:lvl5pPr>
            <a:lvl6pPr algn="l">
              <a:defRPr sz="1425" b="0">
                <a:solidFill>
                  <a:srgbClr val="17332D"/>
                </a:solidFill>
              </a:defRPr>
            </a:lvl6pPr>
            <a:lvl7pPr algn="l">
              <a:defRPr sz="1425" b="0">
                <a:solidFill>
                  <a:srgbClr val="17332D"/>
                </a:solidFill>
              </a:defRPr>
            </a:lvl7pPr>
            <a:lvl8pPr algn="l">
              <a:defRPr sz="1425" b="0">
                <a:solidFill>
                  <a:srgbClr val="17332D"/>
                </a:solidFill>
              </a:defRPr>
            </a:lvl8pPr>
            <a:lvl9pPr algn="l">
              <a:defRPr sz="1425" b="0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332D"/>
                </a:solidFill>
              </a:defRPr>
            </a:pPr>
            <a:r>
              <a:rPr sz="1425" b="0">
                <a:solidFill>
                  <a:srgbClr val="17332D"/>
                </a:solidFill>
              </a:rPr>
              <a:t>Citi Bike revenue only, based on an explicit fare assumption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049DE0-6FCE-4CB5-9C97-937B8BEE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62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64736C"/>
                </a:solidFill>
              </a:defRPr>
            </a:defPPr>
            <a:lvl1pPr algn="l">
              <a:defRPr sz="1200" b="1">
                <a:solidFill>
                  <a:srgbClr val="64736C"/>
                </a:solidFill>
              </a:defRPr>
            </a:lvl1pPr>
            <a:lvl2pPr algn="l">
              <a:defRPr sz="1200" b="1">
                <a:solidFill>
                  <a:srgbClr val="64736C"/>
                </a:solidFill>
              </a:defRPr>
            </a:lvl2pPr>
            <a:lvl3pPr algn="l">
              <a:defRPr sz="1200" b="1">
                <a:solidFill>
                  <a:srgbClr val="64736C"/>
                </a:solidFill>
              </a:defRPr>
            </a:lvl3pPr>
            <a:lvl4pPr algn="l">
              <a:defRPr sz="1200" b="1">
                <a:solidFill>
                  <a:srgbClr val="64736C"/>
                </a:solidFill>
              </a:defRPr>
            </a:lvl4pPr>
            <a:lvl5pPr algn="l">
              <a:defRPr sz="1200" b="1">
                <a:solidFill>
                  <a:srgbClr val="64736C"/>
                </a:solidFill>
              </a:defRPr>
            </a:lvl5pPr>
            <a:lvl6pPr algn="l">
              <a:defRPr sz="1200" b="1">
                <a:solidFill>
                  <a:srgbClr val="64736C"/>
                </a:solidFill>
              </a:defRPr>
            </a:lvl6pPr>
            <a:lvl7pPr algn="l">
              <a:defRPr sz="1200" b="1">
                <a:solidFill>
                  <a:srgbClr val="64736C"/>
                </a:solidFill>
              </a:defRPr>
            </a:lvl7pPr>
            <a:lvl8pPr algn="l">
              <a:defRPr sz="1200" b="1">
                <a:solidFill>
                  <a:srgbClr val="64736C"/>
                </a:solidFill>
              </a:defRPr>
            </a:lvl8pPr>
            <a:lvl9pPr algn="l">
              <a:defRPr sz="1200" b="1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4736C"/>
                </a:solidFill>
              </a:defRPr>
            </a:pPr>
            <a:r>
              <a:rPr sz="1200" b="1">
                <a:solidFill>
                  <a:srgbClr val="64736C"/>
                </a:solidFill>
              </a:rPr>
              <a:t>HYPOTHETICAL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01511-5C25-496C-B264-AA668A5E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33600"/>
            <a:ext cx="2190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32D"/>
                </a:solidFill>
              </a:defRPr>
            </a:defPPr>
            <a:lvl1pPr algn="l">
              <a:defRPr sz="1425" b="0">
                <a:solidFill>
                  <a:srgbClr val="17332D"/>
                </a:solidFill>
              </a:defRPr>
            </a:lvl1pPr>
            <a:lvl2pPr algn="l">
              <a:defRPr sz="1425" b="0">
                <a:solidFill>
                  <a:srgbClr val="17332D"/>
                </a:solidFill>
              </a:defRPr>
            </a:lvl2pPr>
            <a:lvl3pPr algn="l">
              <a:defRPr sz="1425" b="0">
                <a:solidFill>
                  <a:srgbClr val="17332D"/>
                </a:solidFill>
              </a:defRPr>
            </a:lvl3pPr>
            <a:lvl4pPr algn="l">
              <a:defRPr sz="1425" b="0">
                <a:solidFill>
                  <a:srgbClr val="17332D"/>
                </a:solidFill>
              </a:defRPr>
            </a:lvl4pPr>
            <a:lvl5pPr algn="l">
              <a:defRPr sz="1425" b="0">
                <a:solidFill>
                  <a:srgbClr val="17332D"/>
                </a:solidFill>
              </a:defRPr>
            </a:lvl5pPr>
            <a:lvl6pPr algn="l">
              <a:defRPr sz="1425" b="0">
                <a:solidFill>
                  <a:srgbClr val="17332D"/>
                </a:solidFill>
              </a:defRPr>
            </a:lvl6pPr>
            <a:lvl7pPr algn="l">
              <a:defRPr sz="1425" b="0">
                <a:solidFill>
                  <a:srgbClr val="17332D"/>
                </a:solidFill>
              </a:defRPr>
            </a:lvl7pPr>
            <a:lvl8pPr algn="l">
              <a:defRPr sz="1425" b="0">
                <a:solidFill>
                  <a:srgbClr val="17332D"/>
                </a:solidFill>
              </a:defRPr>
            </a:lvl8pPr>
            <a:lvl9pPr algn="l">
              <a:defRPr sz="1425" b="0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332D"/>
                </a:solidFill>
              </a:defRPr>
            </a:pPr>
            <a:r>
              <a:rPr sz="1425" b="0">
                <a:solidFill>
                  <a:srgbClr val="17332D"/>
                </a:solidFill>
              </a:rPr>
              <a:t>Scenario controls remain separate from historical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E47A8-A05A-4422-A39A-2BAB6787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C3C9C4-96F6-47D8-AABA-F668F48C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450" b="1">
                <a:solidFill>
                  <a:srgbClr val="087F71"/>
                </a:solidFill>
              </a:defRPr>
            </a:defPPr>
            <a:lvl1pPr algn="l">
              <a:defRPr sz="3450" b="1">
                <a:solidFill>
                  <a:srgbClr val="087F71"/>
                </a:solidFill>
              </a:defRPr>
            </a:lvl1pPr>
            <a:lvl2pPr algn="l">
              <a:defRPr sz="3450" b="1">
                <a:solidFill>
                  <a:srgbClr val="087F71"/>
                </a:solidFill>
              </a:defRPr>
            </a:lvl2pPr>
            <a:lvl3pPr algn="l">
              <a:defRPr sz="3450" b="1">
                <a:solidFill>
                  <a:srgbClr val="087F71"/>
                </a:solidFill>
              </a:defRPr>
            </a:lvl3pPr>
            <a:lvl4pPr algn="l">
              <a:defRPr sz="3450" b="1">
                <a:solidFill>
                  <a:srgbClr val="087F71"/>
                </a:solidFill>
              </a:defRPr>
            </a:lvl4pPr>
            <a:lvl5pPr algn="l">
              <a:defRPr sz="3450" b="1">
                <a:solidFill>
                  <a:srgbClr val="087F71"/>
                </a:solidFill>
              </a:defRPr>
            </a:lvl5pPr>
            <a:lvl6pPr algn="l">
              <a:defRPr sz="3450" b="1">
                <a:solidFill>
                  <a:srgbClr val="087F71"/>
                </a:solidFill>
              </a:defRPr>
            </a:lvl6pPr>
            <a:lvl7pPr algn="l">
              <a:defRPr sz="3450" b="1">
                <a:solidFill>
                  <a:srgbClr val="087F71"/>
                </a:solidFill>
              </a:defRPr>
            </a:lvl7pPr>
            <a:lvl8pPr algn="l">
              <a:defRPr sz="3450" b="1">
                <a:solidFill>
                  <a:srgbClr val="087F71"/>
                </a:solidFill>
              </a:defRPr>
            </a:lvl8pPr>
            <a:lvl9pPr algn="l">
              <a:defRPr sz="345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7F71"/>
                </a:solidFill>
              </a:defRPr>
            </a:pPr>
            <a:r>
              <a:rPr sz="3450" b="1">
                <a:solidFill>
                  <a:srgbClr val="087F71"/>
                </a:solidFill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A4CAA-9515-4AB2-8D74-BB80232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executable notebook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6DBADB-E9FA-47AD-AD8D-C5A6DF90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450" b="1">
                <a:solidFill>
                  <a:srgbClr val="087F71"/>
                </a:solidFill>
              </a:defRPr>
            </a:defPPr>
            <a:lvl1pPr algn="l">
              <a:defRPr sz="3450" b="1">
                <a:solidFill>
                  <a:srgbClr val="087F71"/>
                </a:solidFill>
              </a:defRPr>
            </a:lvl1pPr>
            <a:lvl2pPr algn="l">
              <a:defRPr sz="3450" b="1">
                <a:solidFill>
                  <a:srgbClr val="087F71"/>
                </a:solidFill>
              </a:defRPr>
            </a:lvl2pPr>
            <a:lvl3pPr algn="l">
              <a:defRPr sz="3450" b="1">
                <a:solidFill>
                  <a:srgbClr val="087F71"/>
                </a:solidFill>
              </a:defRPr>
            </a:lvl3pPr>
            <a:lvl4pPr algn="l">
              <a:defRPr sz="3450" b="1">
                <a:solidFill>
                  <a:srgbClr val="087F71"/>
                </a:solidFill>
              </a:defRPr>
            </a:lvl4pPr>
            <a:lvl5pPr algn="l">
              <a:defRPr sz="3450" b="1">
                <a:solidFill>
                  <a:srgbClr val="087F71"/>
                </a:solidFill>
              </a:defRPr>
            </a:lvl5pPr>
            <a:lvl6pPr algn="l">
              <a:defRPr sz="3450" b="1">
                <a:solidFill>
                  <a:srgbClr val="087F71"/>
                </a:solidFill>
              </a:defRPr>
            </a:lvl6pPr>
            <a:lvl7pPr algn="l">
              <a:defRPr sz="3450" b="1">
                <a:solidFill>
                  <a:srgbClr val="087F71"/>
                </a:solidFill>
              </a:defRPr>
            </a:lvl7pPr>
            <a:lvl8pPr algn="l">
              <a:defRPr sz="3450" b="1">
                <a:solidFill>
                  <a:srgbClr val="087F71"/>
                </a:solidFill>
              </a:defRPr>
            </a:lvl8pPr>
            <a:lvl9pPr algn="l">
              <a:defRPr sz="345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7F71"/>
                </a:solidFill>
              </a:defRPr>
            </a:pPr>
            <a:r>
              <a:rPr sz="3450" b="1">
                <a:solidFill>
                  <a:srgbClr val="087F71"/>
                </a:solidFill>
              </a:rPr>
              <a:t>54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9E8C8-D2FD-4801-9DD3-B627251F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29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automated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E4E28-6623-4DEF-B82D-04655D0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528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450" b="1">
                <a:solidFill>
                  <a:srgbClr val="087F71"/>
                </a:solidFill>
              </a:defRPr>
            </a:defPPr>
            <a:lvl1pPr algn="l">
              <a:defRPr sz="3450" b="1">
                <a:solidFill>
                  <a:srgbClr val="087F71"/>
                </a:solidFill>
              </a:defRPr>
            </a:lvl1pPr>
            <a:lvl2pPr algn="l">
              <a:defRPr sz="3450" b="1">
                <a:solidFill>
                  <a:srgbClr val="087F71"/>
                </a:solidFill>
              </a:defRPr>
            </a:lvl2pPr>
            <a:lvl3pPr algn="l">
              <a:defRPr sz="3450" b="1">
                <a:solidFill>
                  <a:srgbClr val="087F71"/>
                </a:solidFill>
              </a:defRPr>
            </a:lvl3pPr>
            <a:lvl4pPr algn="l">
              <a:defRPr sz="3450" b="1">
                <a:solidFill>
                  <a:srgbClr val="087F71"/>
                </a:solidFill>
              </a:defRPr>
            </a:lvl4pPr>
            <a:lvl5pPr algn="l">
              <a:defRPr sz="3450" b="1">
                <a:solidFill>
                  <a:srgbClr val="087F71"/>
                </a:solidFill>
              </a:defRPr>
            </a:lvl5pPr>
            <a:lvl6pPr algn="l">
              <a:defRPr sz="3450" b="1">
                <a:solidFill>
                  <a:srgbClr val="087F71"/>
                </a:solidFill>
              </a:defRPr>
            </a:lvl6pPr>
            <a:lvl7pPr algn="l">
              <a:defRPr sz="3450" b="1">
                <a:solidFill>
                  <a:srgbClr val="087F71"/>
                </a:solidFill>
              </a:defRPr>
            </a:lvl7pPr>
            <a:lvl8pPr algn="l">
              <a:defRPr sz="3450" b="1">
                <a:solidFill>
                  <a:srgbClr val="087F71"/>
                </a:solidFill>
              </a:defRPr>
            </a:lvl8pPr>
            <a:lvl9pPr algn="l">
              <a:defRPr sz="345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7F71"/>
                </a:solidFill>
              </a:defRPr>
            </a:pPr>
            <a:r>
              <a:rPr sz="3450" b="1">
                <a:solidFill>
                  <a:srgbClr val="087F71"/>
                </a:solidFill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8C2AB6-2630-4E49-88C0-6DFEED8B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291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64736C"/>
                </a:solidFill>
              </a:defRPr>
            </a:defPPr>
            <a:lvl1pPr algn="l">
              <a:defRPr sz="1350" b="0">
                <a:solidFill>
                  <a:srgbClr val="64736C"/>
                </a:solidFill>
              </a:defRPr>
            </a:lvl1pPr>
            <a:lvl2pPr algn="l">
              <a:defRPr sz="1350" b="0">
                <a:solidFill>
                  <a:srgbClr val="64736C"/>
                </a:solidFill>
              </a:defRPr>
            </a:lvl2pPr>
            <a:lvl3pPr algn="l">
              <a:defRPr sz="1350" b="0">
                <a:solidFill>
                  <a:srgbClr val="64736C"/>
                </a:solidFill>
              </a:defRPr>
            </a:lvl3pPr>
            <a:lvl4pPr algn="l">
              <a:defRPr sz="1350" b="0">
                <a:solidFill>
                  <a:srgbClr val="64736C"/>
                </a:solidFill>
              </a:defRPr>
            </a:lvl4pPr>
            <a:lvl5pPr algn="l">
              <a:defRPr sz="1350" b="0">
                <a:solidFill>
                  <a:srgbClr val="64736C"/>
                </a:solidFill>
              </a:defRPr>
            </a:lvl5pPr>
            <a:lvl6pPr algn="l">
              <a:defRPr sz="1350" b="0">
                <a:solidFill>
                  <a:srgbClr val="64736C"/>
                </a:solidFill>
              </a:defRPr>
            </a:lvl6pPr>
            <a:lvl7pPr algn="l">
              <a:defRPr sz="1350" b="0">
                <a:solidFill>
                  <a:srgbClr val="64736C"/>
                </a:solidFill>
              </a:defRPr>
            </a:lvl7pPr>
            <a:lvl8pPr algn="l">
              <a:defRPr sz="1350" b="0">
                <a:solidFill>
                  <a:srgbClr val="64736C"/>
                </a:solidFill>
              </a:defRPr>
            </a:lvl8pPr>
            <a:lvl9pPr algn="l">
              <a:defRPr sz="135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4736C"/>
                </a:solidFill>
              </a:defRPr>
            </a:pPr>
            <a:r>
              <a:rPr sz="1350" b="0">
                <a:solidFill>
                  <a:srgbClr val="64736C"/>
                </a:solidFill>
              </a:rPr>
              <a:t>shared computation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12A4A-195E-47C7-819F-DAC83240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32D"/>
                </a:solidFill>
              </a:defRPr>
            </a:defPPr>
            <a:lvl1pPr algn="l">
              <a:defRPr sz="1425" b="1">
                <a:solidFill>
                  <a:srgbClr val="17332D"/>
                </a:solidFill>
              </a:defRPr>
            </a:lvl1pPr>
            <a:lvl2pPr algn="l">
              <a:defRPr sz="1425" b="1">
                <a:solidFill>
                  <a:srgbClr val="17332D"/>
                </a:solidFill>
              </a:defRPr>
            </a:lvl2pPr>
            <a:lvl3pPr algn="l">
              <a:defRPr sz="1425" b="1">
                <a:solidFill>
                  <a:srgbClr val="17332D"/>
                </a:solidFill>
              </a:defRPr>
            </a:lvl3pPr>
            <a:lvl4pPr algn="l">
              <a:defRPr sz="1425" b="1">
                <a:solidFill>
                  <a:srgbClr val="17332D"/>
                </a:solidFill>
              </a:defRPr>
            </a:lvl4pPr>
            <a:lvl5pPr algn="l">
              <a:defRPr sz="1425" b="1">
                <a:solidFill>
                  <a:srgbClr val="17332D"/>
                </a:solidFill>
              </a:defRPr>
            </a:lvl5pPr>
            <a:lvl6pPr algn="l">
              <a:defRPr sz="1425" b="1">
                <a:solidFill>
                  <a:srgbClr val="17332D"/>
                </a:solidFill>
              </a:defRPr>
            </a:lvl6pPr>
            <a:lvl7pPr algn="l">
              <a:defRPr sz="1425" b="1">
                <a:solidFill>
                  <a:srgbClr val="17332D"/>
                </a:solidFill>
              </a:defRPr>
            </a:lvl7pPr>
            <a:lvl8pPr algn="l">
              <a:defRPr sz="1425" b="1">
                <a:solidFill>
                  <a:srgbClr val="17332D"/>
                </a:solidFill>
              </a:defRPr>
            </a:lvl8pPr>
            <a:lvl9pPr algn="l">
              <a:defRPr sz="1425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332D"/>
                </a:solidFill>
              </a:defRPr>
            </a:pPr>
            <a:r>
              <a:rPr sz="1425" b="1">
                <a:solidFill>
                  <a:srgbClr val="17332D"/>
                </a:solidFill>
              </a:rPr>
              <a:t>The notebook generates the code presentation shown in the app, reducing the risk of documentation drifting away from the executed analysis.</a:t>
            </a:r>
          </a:p>
        </p:txBody>
      </p:sp>
    </p:spTree>
    <p:extLst>
      <p:ext uri="{BB962C8B-B14F-4D97-AF65-F5344CB8AC3E}">
        <p14:creationId xmlns:p14="http://schemas.microsoft.com/office/powerpoint/2010/main" val="482148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C1447-1171-447F-A250-9739E4D8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87F71"/>
                </a:solidFill>
              </a:defRPr>
            </a:defPPr>
            <a:lvl1pPr algn="l">
              <a:defRPr sz="900" b="1">
                <a:solidFill>
                  <a:srgbClr val="087F71"/>
                </a:solidFill>
              </a:defRPr>
            </a:lvl1pPr>
            <a:lvl2pPr algn="l">
              <a:defRPr sz="900" b="1">
                <a:solidFill>
                  <a:srgbClr val="087F71"/>
                </a:solidFill>
              </a:defRPr>
            </a:lvl2pPr>
            <a:lvl3pPr algn="l">
              <a:defRPr sz="900" b="1">
                <a:solidFill>
                  <a:srgbClr val="087F71"/>
                </a:solidFill>
              </a:defRPr>
            </a:lvl3pPr>
            <a:lvl4pPr algn="l">
              <a:defRPr sz="900" b="1">
                <a:solidFill>
                  <a:srgbClr val="087F71"/>
                </a:solidFill>
              </a:defRPr>
            </a:lvl4pPr>
            <a:lvl5pPr algn="l">
              <a:defRPr sz="900" b="1">
                <a:solidFill>
                  <a:srgbClr val="087F71"/>
                </a:solidFill>
              </a:defRPr>
            </a:lvl5pPr>
            <a:lvl6pPr algn="l">
              <a:defRPr sz="900" b="1">
                <a:solidFill>
                  <a:srgbClr val="087F71"/>
                </a:solidFill>
              </a:defRPr>
            </a:lvl6pPr>
            <a:lvl7pPr algn="l">
              <a:defRPr sz="900" b="1">
                <a:solidFill>
                  <a:srgbClr val="087F71"/>
                </a:solidFill>
              </a:defRPr>
            </a:lvl7pPr>
            <a:lvl8pPr algn="l">
              <a:defRPr sz="900" b="1">
                <a:solidFill>
                  <a:srgbClr val="087F71"/>
                </a:solidFill>
              </a:defRPr>
            </a:lvl8pPr>
            <a:lvl9pPr algn="l">
              <a:defRPr sz="9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87F71"/>
                </a:solidFill>
              </a:defRPr>
            </a:pPr>
            <a:r>
              <a:rPr sz="900" b="1">
                <a:solidFill>
                  <a:srgbClr val="087F71"/>
                </a:solidFill>
              </a:rPr>
              <a:t>EXPLORATORY DATA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1A6A9-2B0F-429A-AF84-3EBF17FD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17332D"/>
                </a:solidFill>
              </a:defRPr>
            </a:defPPr>
            <a:lvl1pPr algn="l">
              <a:defRPr sz="2550" b="1">
                <a:solidFill>
                  <a:srgbClr val="17332D"/>
                </a:solidFill>
              </a:defRPr>
            </a:lvl1pPr>
            <a:lvl2pPr algn="l">
              <a:defRPr sz="2550" b="1">
                <a:solidFill>
                  <a:srgbClr val="17332D"/>
                </a:solidFill>
              </a:defRPr>
            </a:lvl2pPr>
            <a:lvl3pPr algn="l">
              <a:defRPr sz="2550" b="1">
                <a:solidFill>
                  <a:srgbClr val="17332D"/>
                </a:solidFill>
              </a:defRPr>
            </a:lvl3pPr>
            <a:lvl4pPr algn="l">
              <a:defRPr sz="2550" b="1">
                <a:solidFill>
                  <a:srgbClr val="17332D"/>
                </a:solidFill>
              </a:defRPr>
            </a:lvl4pPr>
            <a:lvl5pPr algn="l">
              <a:defRPr sz="2550" b="1">
                <a:solidFill>
                  <a:srgbClr val="17332D"/>
                </a:solidFill>
              </a:defRPr>
            </a:lvl5pPr>
            <a:lvl6pPr algn="l">
              <a:defRPr sz="2550" b="1">
                <a:solidFill>
                  <a:srgbClr val="17332D"/>
                </a:solidFill>
              </a:defRPr>
            </a:lvl6pPr>
            <a:lvl7pPr algn="l">
              <a:defRPr sz="2550" b="1">
                <a:solidFill>
                  <a:srgbClr val="17332D"/>
                </a:solidFill>
              </a:defRPr>
            </a:lvl7pPr>
            <a:lvl8pPr algn="l">
              <a:defRPr sz="2550" b="1">
                <a:solidFill>
                  <a:srgbClr val="17332D"/>
                </a:solidFill>
              </a:defRPr>
            </a:lvl8pPr>
            <a:lvl9pPr algn="l">
              <a:defRPr sz="2550" b="1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7332D"/>
                </a:solidFill>
              </a:defRPr>
            </a:pPr>
            <a:r>
              <a:rPr sz="2550" b="1">
                <a:solidFill>
                  <a:srgbClr val="17332D"/>
                </a:solidFill>
              </a:rPr>
              <a:t>Conclusions that the data can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44848-9357-40E2-A475-C5145D9C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C9C52-3238-45B7-91B6-A508314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153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00" b="1">
                <a:solidFill>
                  <a:srgbClr val="64736C"/>
                </a:solidFill>
              </a:defRPr>
            </a:defPPr>
            <a:lvl1pPr algn="r">
              <a:defRPr sz="900" b="1">
                <a:solidFill>
                  <a:srgbClr val="64736C"/>
                </a:solidFill>
              </a:defRPr>
            </a:lvl1pPr>
            <a:lvl2pPr algn="r">
              <a:defRPr sz="900" b="1">
                <a:solidFill>
                  <a:srgbClr val="64736C"/>
                </a:solidFill>
              </a:defRPr>
            </a:lvl2pPr>
            <a:lvl3pPr algn="r">
              <a:defRPr sz="900" b="1">
                <a:solidFill>
                  <a:srgbClr val="64736C"/>
                </a:solidFill>
              </a:defRPr>
            </a:lvl3pPr>
            <a:lvl4pPr algn="r">
              <a:defRPr sz="900" b="1">
                <a:solidFill>
                  <a:srgbClr val="64736C"/>
                </a:solidFill>
              </a:defRPr>
            </a:lvl4pPr>
            <a:lvl5pPr algn="r">
              <a:defRPr sz="900" b="1">
                <a:solidFill>
                  <a:srgbClr val="64736C"/>
                </a:solidFill>
              </a:defRPr>
            </a:lvl5pPr>
            <a:lvl6pPr algn="r">
              <a:defRPr sz="900" b="1">
                <a:solidFill>
                  <a:srgbClr val="64736C"/>
                </a:solidFill>
              </a:defRPr>
            </a:lvl6pPr>
            <a:lvl7pPr algn="r">
              <a:defRPr sz="900" b="1">
                <a:solidFill>
                  <a:srgbClr val="64736C"/>
                </a:solidFill>
              </a:defRPr>
            </a:lvl7pPr>
            <a:lvl8pPr algn="r">
              <a:defRPr sz="900" b="1">
                <a:solidFill>
                  <a:srgbClr val="64736C"/>
                </a:solidFill>
              </a:defRPr>
            </a:lvl8pPr>
            <a:lvl9pPr algn="r">
              <a:defRPr sz="900" b="1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64736C"/>
                </a:solidFill>
              </a:defRPr>
            </a:pPr>
            <a:r>
              <a:rPr sz="900" b="1">
                <a:solidFill>
                  <a:srgbClr val="64736C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0793D-0530-446C-8A20-7B915CAA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>
                <a:solidFill>
                  <a:srgbClr val="64736C"/>
                </a:solidFill>
              </a:defRPr>
            </a:defPPr>
            <a:lvl1pPr algn="l">
              <a:defRPr sz="900" b="0">
                <a:solidFill>
                  <a:srgbClr val="64736C"/>
                </a:solidFill>
              </a:defRPr>
            </a:lvl1pPr>
            <a:lvl2pPr algn="l">
              <a:defRPr sz="900" b="0">
                <a:solidFill>
                  <a:srgbClr val="64736C"/>
                </a:solidFill>
              </a:defRPr>
            </a:lvl2pPr>
            <a:lvl3pPr algn="l">
              <a:defRPr sz="900" b="0">
                <a:solidFill>
                  <a:srgbClr val="64736C"/>
                </a:solidFill>
              </a:defRPr>
            </a:lvl3pPr>
            <a:lvl4pPr algn="l">
              <a:defRPr sz="900" b="0">
                <a:solidFill>
                  <a:srgbClr val="64736C"/>
                </a:solidFill>
              </a:defRPr>
            </a:lvl4pPr>
            <a:lvl5pPr algn="l">
              <a:defRPr sz="900" b="0">
                <a:solidFill>
                  <a:srgbClr val="64736C"/>
                </a:solidFill>
              </a:defRPr>
            </a:lvl5pPr>
            <a:lvl6pPr algn="l">
              <a:defRPr sz="900" b="0">
                <a:solidFill>
                  <a:srgbClr val="64736C"/>
                </a:solidFill>
              </a:defRPr>
            </a:lvl6pPr>
            <a:lvl7pPr algn="l">
              <a:defRPr sz="900" b="0">
                <a:solidFill>
                  <a:srgbClr val="64736C"/>
                </a:solidFill>
              </a:defRPr>
            </a:lvl7pPr>
            <a:lvl8pPr algn="l">
              <a:defRPr sz="900" b="0">
                <a:solidFill>
                  <a:srgbClr val="64736C"/>
                </a:solidFill>
              </a:defRPr>
            </a:lvl8pPr>
            <a:lvl9pPr algn="l">
              <a:defRPr sz="900" b="0">
                <a:solidFill>
                  <a:srgbClr val="64736C"/>
                </a:solidFill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4736C"/>
                </a:solidFill>
              </a:defRPr>
            </a:pPr>
            <a:r>
              <a:rPr sz="900" b="0">
                <a:solidFill>
                  <a:srgbClr val="64736C"/>
                </a:solidFill>
              </a:rPr>
              <a:t>WeatherBizAnalysis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9E46B-D99E-42E6-BFF9-CDB537C6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87F71"/>
                </a:solidFill>
              </a:defRPr>
            </a:defPPr>
            <a:lvl1pPr algn="l">
              <a:defRPr sz="1500" b="1">
                <a:solidFill>
                  <a:srgbClr val="087F71"/>
                </a:solidFill>
              </a:defRPr>
            </a:lvl1pPr>
            <a:lvl2pPr algn="l">
              <a:defRPr sz="1500" b="1">
                <a:solidFill>
                  <a:srgbClr val="087F71"/>
                </a:solidFill>
              </a:defRPr>
            </a:lvl2pPr>
            <a:lvl3pPr algn="l">
              <a:defRPr sz="1500" b="1">
                <a:solidFill>
                  <a:srgbClr val="087F71"/>
                </a:solidFill>
              </a:defRPr>
            </a:lvl3pPr>
            <a:lvl4pPr algn="l">
              <a:defRPr sz="1500" b="1">
                <a:solidFill>
                  <a:srgbClr val="087F71"/>
                </a:solidFill>
              </a:defRPr>
            </a:lvl4pPr>
            <a:lvl5pPr algn="l">
              <a:defRPr sz="1500" b="1">
                <a:solidFill>
                  <a:srgbClr val="087F71"/>
                </a:solidFill>
              </a:defRPr>
            </a:lvl5pPr>
            <a:lvl6pPr algn="l">
              <a:defRPr sz="1500" b="1">
                <a:solidFill>
                  <a:srgbClr val="087F71"/>
                </a:solidFill>
              </a:defRPr>
            </a:lvl6pPr>
            <a:lvl7pPr algn="l">
              <a:defRPr sz="1500" b="1">
                <a:solidFill>
                  <a:srgbClr val="087F71"/>
                </a:solidFill>
              </a:defRPr>
            </a:lvl7pPr>
            <a:lvl8pPr algn="l">
              <a:defRPr sz="1500" b="1">
                <a:solidFill>
                  <a:srgbClr val="087F71"/>
                </a:solidFill>
              </a:defRPr>
            </a:lvl8pPr>
            <a:lvl9pPr algn="l">
              <a:defRPr sz="1500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87F71"/>
                </a:solidFill>
              </a:defRPr>
            </a:pPr>
            <a:r>
              <a:rPr sz="1500" b="1">
                <a:solidFill>
                  <a:srgbClr val="087F71"/>
                </a:solidFill>
              </a:rPr>
              <a:t>Citi Bike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3B52B-0658-4337-B13D-CFDCD040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332D"/>
                </a:solidFill>
              </a:defRPr>
            </a:defPPr>
            <a:lvl1pPr algn="l">
              <a:defRPr sz="1650" b="0">
                <a:solidFill>
                  <a:srgbClr val="17332D"/>
                </a:solidFill>
              </a:defRPr>
            </a:lvl1pPr>
            <a:lvl2pPr algn="l">
              <a:defRPr sz="1650" b="0">
                <a:solidFill>
                  <a:srgbClr val="17332D"/>
                </a:solidFill>
              </a:defRPr>
            </a:lvl2pPr>
            <a:lvl3pPr algn="l">
              <a:defRPr sz="1650" b="0">
                <a:solidFill>
                  <a:srgbClr val="17332D"/>
                </a:solidFill>
              </a:defRPr>
            </a:lvl3pPr>
            <a:lvl4pPr algn="l">
              <a:defRPr sz="1650" b="0">
                <a:solidFill>
                  <a:srgbClr val="17332D"/>
                </a:solidFill>
              </a:defRPr>
            </a:lvl4pPr>
            <a:lvl5pPr algn="l">
              <a:defRPr sz="1650" b="0">
                <a:solidFill>
                  <a:srgbClr val="17332D"/>
                </a:solidFill>
              </a:defRPr>
            </a:lvl5pPr>
            <a:lvl6pPr algn="l">
              <a:defRPr sz="1650" b="0">
                <a:solidFill>
                  <a:srgbClr val="17332D"/>
                </a:solidFill>
              </a:defRPr>
            </a:lvl6pPr>
            <a:lvl7pPr algn="l">
              <a:defRPr sz="1650" b="0">
                <a:solidFill>
                  <a:srgbClr val="17332D"/>
                </a:solidFill>
              </a:defRPr>
            </a:lvl7pPr>
            <a:lvl8pPr algn="l">
              <a:defRPr sz="1650" b="0">
                <a:solidFill>
                  <a:srgbClr val="17332D"/>
                </a:solidFill>
              </a:defRPr>
            </a:lvl8pPr>
            <a:lvl9pPr algn="l">
              <a:defRPr sz="1650" b="0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32D"/>
                </a:solidFill>
              </a:defRPr>
            </a:pPr>
            <a:r>
              <a:rPr sz="1650" b="0">
                <a:solidFill>
                  <a:srgbClr val="17332D"/>
                </a:solidFill>
              </a:rPr>
              <a:t>Rain has a stable negative association with daily rides in the observed sample. This does not identify individual mode switching.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5A86C-B1C1-41FD-A3AB-4D36E52C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FB035-CC82-43C9-8DED-AFF4E1C9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B27637"/>
                </a:solidFill>
              </a:defRPr>
            </a:defPPr>
            <a:lvl1pPr algn="l">
              <a:defRPr sz="1500" b="1">
                <a:solidFill>
                  <a:srgbClr val="B27637"/>
                </a:solidFill>
              </a:defRPr>
            </a:lvl1pPr>
            <a:lvl2pPr algn="l">
              <a:defRPr sz="1500" b="1">
                <a:solidFill>
                  <a:srgbClr val="B27637"/>
                </a:solidFill>
              </a:defRPr>
            </a:lvl2pPr>
            <a:lvl3pPr algn="l">
              <a:defRPr sz="1500" b="1">
                <a:solidFill>
                  <a:srgbClr val="B27637"/>
                </a:solidFill>
              </a:defRPr>
            </a:lvl3pPr>
            <a:lvl4pPr algn="l">
              <a:defRPr sz="1500" b="1">
                <a:solidFill>
                  <a:srgbClr val="B27637"/>
                </a:solidFill>
              </a:defRPr>
            </a:lvl4pPr>
            <a:lvl5pPr algn="l">
              <a:defRPr sz="1500" b="1">
                <a:solidFill>
                  <a:srgbClr val="B27637"/>
                </a:solidFill>
              </a:defRPr>
            </a:lvl5pPr>
            <a:lvl6pPr algn="l">
              <a:defRPr sz="1500" b="1">
                <a:solidFill>
                  <a:srgbClr val="B27637"/>
                </a:solidFill>
              </a:defRPr>
            </a:lvl6pPr>
            <a:lvl7pPr algn="l">
              <a:defRPr sz="1500" b="1">
                <a:solidFill>
                  <a:srgbClr val="B27637"/>
                </a:solidFill>
              </a:defRPr>
            </a:lvl7pPr>
            <a:lvl8pPr algn="l">
              <a:defRPr sz="1500" b="1">
                <a:solidFill>
                  <a:srgbClr val="B27637"/>
                </a:solidFill>
              </a:defRPr>
            </a:lvl8pPr>
            <a:lvl9pPr algn="l">
              <a:defRPr sz="1500" b="1">
                <a:solidFill>
                  <a:srgbClr val="B27637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B27637"/>
                </a:solidFill>
              </a:defRPr>
            </a:pPr>
            <a:r>
              <a:rPr sz="1500" b="1">
                <a:solidFill>
                  <a:srgbClr val="B27637"/>
                </a:solidFill>
              </a:rPr>
              <a:t>NYC Taxi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3D3C1-06F2-43F9-B4D3-6EB75E41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332D"/>
                </a:solidFill>
              </a:defRPr>
            </a:defPPr>
            <a:lvl1pPr algn="l">
              <a:defRPr sz="1650" b="0">
                <a:solidFill>
                  <a:srgbClr val="17332D"/>
                </a:solidFill>
              </a:defRPr>
            </a:lvl1pPr>
            <a:lvl2pPr algn="l">
              <a:defRPr sz="1650" b="0">
                <a:solidFill>
                  <a:srgbClr val="17332D"/>
                </a:solidFill>
              </a:defRPr>
            </a:lvl2pPr>
            <a:lvl3pPr algn="l">
              <a:defRPr sz="1650" b="0">
                <a:solidFill>
                  <a:srgbClr val="17332D"/>
                </a:solidFill>
              </a:defRPr>
            </a:lvl3pPr>
            <a:lvl4pPr algn="l">
              <a:defRPr sz="1650" b="0">
                <a:solidFill>
                  <a:srgbClr val="17332D"/>
                </a:solidFill>
              </a:defRPr>
            </a:lvl4pPr>
            <a:lvl5pPr algn="l">
              <a:defRPr sz="1650" b="0">
                <a:solidFill>
                  <a:srgbClr val="17332D"/>
                </a:solidFill>
              </a:defRPr>
            </a:lvl5pPr>
            <a:lvl6pPr algn="l">
              <a:defRPr sz="1650" b="0">
                <a:solidFill>
                  <a:srgbClr val="17332D"/>
                </a:solidFill>
              </a:defRPr>
            </a:lvl6pPr>
            <a:lvl7pPr algn="l">
              <a:defRPr sz="1650" b="0">
                <a:solidFill>
                  <a:srgbClr val="17332D"/>
                </a:solidFill>
              </a:defRPr>
            </a:lvl7pPr>
            <a:lvl8pPr algn="l">
              <a:defRPr sz="1650" b="0">
                <a:solidFill>
                  <a:srgbClr val="17332D"/>
                </a:solidFill>
              </a:defRPr>
            </a:lvl8pPr>
            <a:lvl9pPr algn="l">
              <a:defRPr sz="1650" b="0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32D"/>
                </a:solidFill>
              </a:defRPr>
            </a:pPr>
            <a:r>
              <a:rPr sz="1650" b="0">
                <a:solidFill>
                  <a:srgbClr val="17332D"/>
                </a:solidFill>
              </a:rPr>
              <a:t>The controlled rain coefficient is positive, but its robust interval includes zero. The direction remains uncertain.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34CFE-0EB8-45AB-90C9-ED598692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8D1"/>
          </a:solidFill>
          <a:ln xmlns:a="http://schemas.openxmlformats.org/drawingml/2006/main" w="0">
            <a:solidFill>
              <a:srgbClr val="CAD8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46D1D-565D-4196-AE7D-C9707DC6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A84E43"/>
                </a:solidFill>
              </a:defRPr>
            </a:defPPr>
            <a:lvl1pPr algn="l">
              <a:defRPr sz="1500" b="1">
                <a:solidFill>
                  <a:srgbClr val="A84E43"/>
                </a:solidFill>
              </a:defRPr>
            </a:lvl1pPr>
            <a:lvl2pPr algn="l">
              <a:defRPr sz="1500" b="1">
                <a:solidFill>
                  <a:srgbClr val="A84E43"/>
                </a:solidFill>
              </a:defRPr>
            </a:lvl2pPr>
            <a:lvl3pPr algn="l">
              <a:defRPr sz="1500" b="1">
                <a:solidFill>
                  <a:srgbClr val="A84E43"/>
                </a:solidFill>
              </a:defRPr>
            </a:lvl3pPr>
            <a:lvl4pPr algn="l">
              <a:defRPr sz="1500" b="1">
                <a:solidFill>
                  <a:srgbClr val="A84E43"/>
                </a:solidFill>
              </a:defRPr>
            </a:lvl4pPr>
            <a:lvl5pPr algn="l">
              <a:defRPr sz="1500" b="1">
                <a:solidFill>
                  <a:srgbClr val="A84E43"/>
                </a:solidFill>
              </a:defRPr>
            </a:lvl5pPr>
            <a:lvl6pPr algn="l">
              <a:defRPr sz="1500" b="1">
                <a:solidFill>
                  <a:srgbClr val="A84E43"/>
                </a:solidFill>
              </a:defRPr>
            </a:lvl6pPr>
            <a:lvl7pPr algn="l">
              <a:defRPr sz="1500" b="1">
                <a:solidFill>
                  <a:srgbClr val="A84E43"/>
                </a:solidFill>
              </a:defRPr>
            </a:lvl7pPr>
            <a:lvl8pPr algn="l">
              <a:defRPr sz="1500" b="1">
                <a:solidFill>
                  <a:srgbClr val="A84E43"/>
                </a:solidFill>
              </a:defRPr>
            </a:lvl8pPr>
            <a:lvl9pPr algn="l">
              <a:defRPr sz="1500" b="1">
                <a:solidFill>
                  <a:srgbClr val="A84E43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A84E43"/>
                </a:solidFill>
              </a:defRPr>
            </a:pPr>
            <a:r>
              <a:rPr sz="1500" b="1">
                <a:solidFill>
                  <a:srgbClr val="A84E43"/>
                </a:solidFill>
              </a:rPr>
              <a:t>Online retail and Chipotle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52518-6690-4DFA-A629-0B0D77E0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7332D"/>
                </a:solidFill>
              </a:defRPr>
            </a:defPPr>
            <a:lvl1pPr algn="l">
              <a:defRPr sz="1650" b="0">
                <a:solidFill>
                  <a:srgbClr val="17332D"/>
                </a:solidFill>
              </a:defRPr>
            </a:lvl1pPr>
            <a:lvl2pPr algn="l">
              <a:defRPr sz="1650" b="0">
                <a:solidFill>
                  <a:srgbClr val="17332D"/>
                </a:solidFill>
              </a:defRPr>
            </a:lvl2pPr>
            <a:lvl3pPr algn="l">
              <a:defRPr sz="1650" b="0">
                <a:solidFill>
                  <a:srgbClr val="17332D"/>
                </a:solidFill>
              </a:defRPr>
            </a:lvl3pPr>
            <a:lvl4pPr algn="l">
              <a:defRPr sz="1650" b="0">
                <a:solidFill>
                  <a:srgbClr val="17332D"/>
                </a:solidFill>
              </a:defRPr>
            </a:lvl4pPr>
            <a:lvl5pPr algn="l">
              <a:defRPr sz="1650" b="0">
                <a:solidFill>
                  <a:srgbClr val="17332D"/>
                </a:solidFill>
              </a:defRPr>
            </a:lvl5pPr>
            <a:lvl6pPr algn="l">
              <a:defRPr sz="1650" b="0">
                <a:solidFill>
                  <a:srgbClr val="17332D"/>
                </a:solidFill>
              </a:defRPr>
            </a:lvl6pPr>
            <a:lvl7pPr algn="l">
              <a:defRPr sz="1650" b="0">
                <a:solidFill>
                  <a:srgbClr val="17332D"/>
                </a:solidFill>
              </a:defRPr>
            </a:lvl7pPr>
            <a:lvl8pPr algn="l">
              <a:defRPr sz="1650" b="0">
                <a:solidFill>
                  <a:srgbClr val="17332D"/>
                </a:solidFill>
              </a:defRPr>
            </a:lvl8pPr>
            <a:lvl9pPr algn="l">
              <a:defRPr sz="1650" b="0">
                <a:solidFill>
                  <a:srgbClr val="17332D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332D"/>
                </a:solidFill>
              </a:defRPr>
            </a:pPr>
            <a:r>
              <a:rPr sz="1650" b="0">
                <a:solidFill>
                  <a:srgbClr val="17332D"/>
                </a:solidFill>
              </a:rPr>
              <a:t>The London proxy does not support a local retail effect. Chipotle has no defensible matched weather, so the project disables that inference.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B31ED2-55C5-4927-A754-F9183D2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087F71"/>
                </a:solidFill>
              </a:defRPr>
            </a:defPPr>
            <a:lvl1pPr algn="l">
              <a:defRPr sz="1875" b="1">
                <a:solidFill>
                  <a:srgbClr val="087F71"/>
                </a:solidFill>
              </a:defRPr>
            </a:lvl1pPr>
            <a:lvl2pPr algn="l">
              <a:defRPr sz="1875" b="1">
                <a:solidFill>
                  <a:srgbClr val="087F71"/>
                </a:solidFill>
              </a:defRPr>
            </a:lvl2pPr>
            <a:lvl3pPr algn="l">
              <a:defRPr sz="1875" b="1">
                <a:solidFill>
                  <a:srgbClr val="087F71"/>
                </a:solidFill>
              </a:defRPr>
            </a:lvl3pPr>
            <a:lvl4pPr algn="l">
              <a:defRPr sz="1875" b="1">
                <a:solidFill>
                  <a:srgbClr val="087F71"/>
                </a:solidFill>
              </a:defRPr>
            </a:lvl4pPr>
            <a:lvl5pPr algn="l">
              <a:defRPr sz="1875" b="1">
                <a:solidFill>
                  <a:srgbClr val="087F71"/>
                </a:solidFill>
              </a:defRPr>
            </a:lvl5pPr>
            <a:lvl6pPr algn="l">
              <a:defRPr sz="1875" b="1">
                <a:solidFill>
                  <a:srgbClr val="087F71"/>
                </a:solidFill>
              </a:defRPr>
            </a:lvl6pPr>
            <a:lvl7pPr algn="l">
              <a:defRPr sz="1875" b="1">
                <a:solidFill>
                  <a:srgbClr val="087F71"/>
                </a:solidFill>
              </a:defRPr>
            </a:lvl7pPr>
            <a:lvl8pPr algn="l">
              <a:defRPr sz="1875" b="1">
                <a:solidFill>
                  <a:srgbClr val="087F71"/>
                </a:solidFill>
              </a:defRPr>
            </a:lvl8pPr>
            <a:lvl9pPr algn="l">
              <a:defRPr sz="1875" b="1">
                <a:solidFill>
                  <a:srgbClr val="087F71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1"/>
                </a:solidFill>
              </a:defRPr>
            </a:pPr>
            <a:r>
              <a:rPr sz="1875" b="1">
                <a:solidFill>
                  <a:srgbClr val="087F71"/>
                </a:solidFill>
              </a:rPr>
              <a:t>Transparent uncertainty is the strongest result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1365675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2026-10-19T21:00:02.4860000Z</dcterms:created>
  <dcterms:modified xsi:type="dcterms:W3CDTF">2026-10-19T21:00:02.4860000Z</dcterms:modified>
</coreProperties>
</file>